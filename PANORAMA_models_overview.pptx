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46"/>
  </p:normalViewPr>
  <p:slideViewPr>
    <p:cSldViewPr snapToGrid="0" snapToObjects="1">
      <p:cViewPr varScale="1">
        <p:scale>
          <a:sx n="99" d="100"/>
          <a:sy n="99" d="100"/>
        </p:scale>
        <p:origin x="960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03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0" tIns="118872" rtlCol="0" anchor="ctr"/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PANORAMA Challenge — AI Models for PDAC Detection on CT</a:t>
            </a:r>
          </a:p>
          <a:p>
            <a:r>
              <a:rPr sz="1600" b="0" i="0">
                <a:solidFill>
                  <a:srgbClr val="C7DEE4"/>
                </a:solidFill>
                <a:latin typeface="Calibri"/>
              </a:rPr>
              <a:t>Case-level diagnosis (AUROC) and lesion detection (AP), per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50292"/>
          </a:xfrm>
          <a:prstGeom prst="rect">
            <a:avLst/>
          </a:prstGeom>
          <a:solidFill>
            <a:srgbClr val="126E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3869957"/>
              </p:ext>
            </p:extLst>
          </p:nvPr>
        </p:nvGraphicFramePr>
        <p:xfrm>
          <a:off x="384048" y="1298448"/>
          <a:ext cx="11329416" cy="4297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70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070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64008" marR="64008" marT="27432" marB="27432" anchor="ctr">
                    <a:solidFill>
                      <a:srgbClr val="126E8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Model (team)</a:t>
                      </a:r>
                    </a:p>
                  </a:txBody>
                  <a:tcPr marL="64008" marR="64008" marT="27432" marB="27432" anchor="ctr">
                    <a:solidFill>
                      <a:srgbClr val="126E8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Technique</a:t>
                      </a:r>
                    </a:p>
                  </a:txBody>
                  <a:tcPr marL="64008" marR="64008" marT="27432" marB="27432" anchor="ctr">
                    <a:solidFill>
                      <a:srgbClr val="126E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AUROC
reader
(n=391)</a:t>
                      </a:r>
                    </a:p>
                  </a:txBody>
                  <a:tcPr marL="64008" marR="64008" marT="27432" marB="27432" anchor="ctr">
                    <a:solidFill>
                      <a:srgbClr val="126E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AUROC
test
(n=1130)</a:t>
                      </a:r>
                    </a:p>
                  </a:txBody>
                  <a:tcPr marL="64008" marR="64008" marT="27432" marB="27432" anchor="ctr">
                    <a:solidFill>
                      <a:srgbClr val="126E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AP
reader</a:t>
                      </a:r>
                    </a:p>
                  </a:txBody>
                  <a:tcPr marL="64008" marR="64008" marT="27432" marB="27432" anchor="ctr">
                    <a:solidFill>
                      <a:srgbClr val="126E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AP
test</a:t>
                      </a:r>
                    </a:p>
                  </a:txBody>
                  <a:tcPr marL="64008" marR="64008" marT="27432" marB="27432" anchor="ctr">
                    <a:solidFill>
                      <a:srgbClr val="126E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222B3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64008" marR="64008" marT="27432" marB="27432" anchor="ctr">
                    <a:solidFill>
                      <a:srgbClr val="FDF3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 i="0">
                          <a:solidFill>
                            <a:srgbClr val="222B30"/>
                          </a:solidFill>
                          <a:latin typeface="Calibri"/>
                        </a:rPr>
                        <a:t>Ensemble AI (top-3)</a:t>
                      </a:r>
                    </a:p>
                  </a:txBody>
                  <a:tcPr marL="64008" marR="64008" marT="27432" marB="27432" anchor="ctr">
                    <a:solidFill>
                      <a:srgbClr val="FDF3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222B30"/>
                          </a:solidFill>
                          <a:latin typeface="Calibri"/>
                        </a:rPr>
                        <a:t>Equal-weighted average of top-3</a:t>
                      </a:r>
                    </a:p>
                  </a:txBody>
                  <a:tcPr marL="64008" marR="64008" marT="27432" marB="27432" anchor="ctr">
                    <a:solidFill>
                      <a:srgbClr val="FD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222B30"/>
                          </a:solidFill>
                          <a:latin typeface="Calibri"/>
                        </a:rPr>
                        <a:t>0.915</a:t>
                      </a:r>
                    </a:p>
                  </a:txBody>
                  <a:tcPr marL="64008" marR="64008" marT="27432" marB="27432" anchor="ctr">
                    <a:solidFill>
                      <a:srgbClr val="FD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222B30"/>
                          </a:solidFill>
                          <a:latin typeface="Calibri"/>
                        </a:rPr>
                        <a:t>0.918</a:t>
                      </a:r>
                    </a:p>
                  </a:txBody>
                  <a:tcPr marL="64008" marR="64008" marT="27432" marB="27432" anchor="ctr">
                    <a:solidFill>
                      <a:srgbClr val="FD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222B30"/>
                          </a:solidFill>
                          <a:latin typeface="Calibri"/>
                        </a:rPr>
                        <a:t>0.740</a:t>
                      </a:r>
                    </a:p>
                  </a:txBody>
                  <a:tcPr marL="64008" marR="64008" marT="27432" marB="27432" anchor="ctr">
                    <a:solidFill>
                      <a:srgbClr val="FD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222B30"/>
                          </a:solidFill>
                          <a:latin typeface="Calibri"/>
                        </a:rPr>
                        <a:t>0.707</a:t>
                      </a:r>
                    </a:p>
                  </a:txBody>
                  <a:tcPr marL="64008" marR="64008" marT="27432" marB="27432" anchor="ctr">
                    <a:solidFill>
                      <a:srgbClr val="FDF3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22B3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4008" marR="64008" marT="27432" marB="27432" anchor="ctr"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222B30"/>
                          </a:solidFill>
                          <a:latin typeface="Calibri"/>
                        </a:rPr>
                        <a:t>H. Liu — DTI (Siemens Healthineers)</a:t>
                      </a:r>
                    </a:p>
                  </a:txBody>
                  <a:tcPr marL="64008" marR="64008" marT="27432" marB="27432" anchor="ctr"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222B30"/>
                          </a:solidFill>
                          <a:latin typeface="Calibri"/>
                        </a:rPr>
                        <a:t>CNN · nnU-Net + ResU-Net (2-stage)</a:t>
                      </a:r>
                    </a:p>
                  </a:txBody>
                  <a:tcPr marL="64008" marR="64008" marT="27432" marB="27432" anchor="ctr"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22B30"/>
                          </a:solidFill>
                          <a:latin typeface="Calibri"/>
                        </a:rPr>
                        <a:t>0.913</a:t>
                      </a:r>
                    </a:p>
                  </a:txBody>
                  <a:tcPr marL="64008" marR="64008" marT="27432" marB="27432" anchor="ctr"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22B30"/>
                          </a:solidFill>
                          <a:latin typeface="Calibri"/>
                        </a:rPr>
                        <a:t>0.916</a:t>
                      </a:r>
                    </a:p>
                  </a:txBody>
                  <a:tcPr marL="64008" marR="64008" marT="27432" marB="27432" anchor="ctr"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22B30"/>
                          </a:solidFill>
                          <a:latin typeface="Calibri"/>
                        </a:rPr>
                        <a:t>0.758</a:t>
                      </a:r>
                    </a:p>
                  </a:txBody>
                  <a:tcPr marL="64008" marR="64008" marT="27432" marB="27432" anchor="ctr"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22B30"/>
                          </a:solidFill>
                          <a:latin typeface="Calibri"/>
                        </a:rPr>
                        <a:t>0.720</a:t>
                      </a:r>
                    </a:p>
                  </a:txBody>
                  <a:tcPr marL="64008" marR="64008" marT="27432" marB="27432" anchor="ctr">
                    <a:solidFill>
                      <a:srgbClr val="F5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22B3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222B30"/>
                          </a:solidFill>
                          <a:latin typeface="Calibri"/>
                        </a:rPr>
                        <a:t>Z. Deng — Hero of Ages (Cedars-Sinai)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222B30"/>
                          </a:solidFill>
                          <a:latin typeface="Calibri"/>
                        </a:rPr>
                        <a:t>CNN · nnU-Net + radiomics + SVM (3-stage)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22B30"/>
                          </a:solidFill>
                          <a:latin typeface="Calibri"/>
                        </a:rPr>
                        <a:t>0.911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22B30"/>
                          </a:solidFill>
                          <a:latin typeface="Calibri"/>
                        </a:rPr>
                        <a:t>0.914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22B30"/>
                          </a:solidFill>
                          <a:latin typeface="Calibri"/>
                        </a:rPr>
                        <a:t>0.653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22B30"/>
                          </a:solidFill>
                          <a:latin typeface="Calibri"/>
                        </a:rPr>
                        <a:t>0.638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22B3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64008" marR="64008" marT="27432" marB="27432" anchor="ctr"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222B30"/>
                          </a:solidFill>
                          <a:latin typeface="Calibri"/>
                        </a:rPr>
                        <a:t>N. Debs / R. Vetil — Panoramix (Guerbet)</a:t>
                      </a:r>
                    </a:p>
                  </a:txBody>
                  <a:tcPr marL="64008" marR="64008" marT="27432" marB="27432" anchor="ctr"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222B30"/>
                          </a:solidFill>
                          <a:latin typeface="Calibri"/>
                        </a:rPr>
                        <a:t>CNN · nnU-Net + logistic regression (4-step)</a:t>
                      </a:r>
                    </a:p>
                  </a:txBody>
                  <a:tcPr marL="64008" marR="64008" marT="27432" marB="27432" anchor="ctr"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22B30"/>
                          </a:solidFill>
                          <a:latin typeface="Calibri"/>
                        </a:rPr>
                        <a:t>0.896</a:t>
                      </a:r>
                    </a:p>
                  </a:txBody>
                  <a:tcPr marL="64008" marR="64008" marT="27432" marB="27432" anchor="ctr"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22B30"/>
                          </a:solidFill>
                          <a:latin typeface="Calibri"/>
                        </a:rPr>
                        <a:t>0.903</a:t>
                      </a:r>
                    </a:p>
                  </a:txBody>
                  <a:tcPr marL="64008" marR="64008" marT="27432" marB="27432" anchor="ctr"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22B30"/>
                          </a:solidFill>
                          <a:latin typeface="Calibri"/>
                        </a:rPr>
                        <a:t>0.736</a:t>
                      </a:r>
                    </a:p>
                  </a:txBody>
                  <a:tcPr marL="64008" marR="64008" marT="27432" marB="27432" anchor="ctr"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22B30"/>
                          </a:solidFill>
                          <a:latin typeface="Calibri"/>
                        </a:rPr>
                        <a:t>0.689</a:t>
                      </a:r>
                    </a:p>
                  </a:txBody>
                  <a:tcPr marL="64008" marR="64008" marT="27432" marB="27432" anchor="ctr">
                    <a:solidFill>
                      <a:srgbClr val="F5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22B30"/>
                          </a:solidFill>
                          <a:latin typeface="Calibri"/>
                        </a:rPr>
                        <a:t>4=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222B30"/>
                          </a:solidFill>
                          <a:latin typeface="Calibri"/>
                        </a:rPr>
                        <a:t>Y. Ching-Yuan — Fight Tumor (UHN Toronto)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222B30"/>
                          </a:solidFill>
                          <a:latin typeface="Calibri"/>
                        </a:rPr>
                        <a:t>CNN · nnU-Net + FPN classification head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22B30"/>
                          </a:solidFill>
                          <a:latin typeface="Calibri"/>
                        </a:rPr>
                        <a:t>0.904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22B30"/>
                          </a:solidFill>
                          <a:latin typeface="Calibri"/>
                        </a:rPr>
                        <a:t>0.895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22B30"/>
                          </a:solidFill>
                          <a:latin typeface="Calibri"/>
                        </a:rPr>
                        <a:t>0.641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22B30"/>
                          </a:solidFill>
                          <a:latin typeface="Calibri"/>
                        </a:rPr>
                        <a:t>0.631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22B30"/>
                          </a:solidFill>
                          <a:latin typeface="Calibri"/>
                        </a:rPr>
                        <a:t>4=</a:t>
                      </a:r>
                    </a:p>
                  </a:txBody>
                  <a:tcPr marL="64008" marR="64008" marT="27432" marB="27432" anchor="ctr"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dirty="0">
                          <a:solidFill>
                            <a:srgbClr val="222B30"/>
                          </a:solidFill>
                          <a:latin typeface="Calibri"/>
                        </a:rPr>
                        <a:t>PANORAMA baseline (Radboud UMC)</a:t>
                      </a:r>
                    </a:p>
                  </a:txBody>
                  <a:tcPr marL="64008" marR="64008" marT="27432" marB="27432" anchor="ctr"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 dirty="0">
                          <a:solidFill>
                            <a:srgbClr val="222B30"/>
                          </a:solidFill>
                          <a:latin typeface="Calibri"/>
                        </a:rPr>
                        <a:t>CNN · </a:t>
                      </a:r>
                      <a:r>
                        <a:rPr sz="1400" b="0" i="0" dirty="0" err="1">
                          <a:solidFill>
                            <a:srgbClr val="222B30"/>
                          </a:solidFill>
                          <a:latin typeface="Calibri"/>
                        </a:rPr>
                        <a:t>nnU</a:t>
                      </a:r>
                      <a:r>
                        <a:rPr sz="1400" b="0" i="0" dirty="0">
                          <a:solidFill>
                            <a:srgbClr val="222B30"/>
                          </a:solidFill>
                          <a:latin typeface="Calibri"/>
                        </a:rPr>
                        <a:t>-Net v2 (2-stage)</a:t>
                      </a:r>
                    </a:p>
                  </a:txBody>
                  <a:tcPr marL="64008" marR="64008" marT="27432" marB="27432" anchor="ctr"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22B30"/>
                          </a:solidFill>
                          <a:latin typeface="Calibri"/>
                        </a:rPr>
                        <a:t>0.909</a:t>
                      </a:r>
                    </a:p>
                  </a:txBody>
                  <a:tcPr marL="64008" marR="64008" marT="27432" marB="27432" anchor="ctr"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22B30"/>
                          </a:solidFill>
                          <a:latin typeface="Calibri"/>
                        </a:rPr>
                        <a:t>0.915</a:t>
                      </a:r>
                    </a:p>
                  </a:txBody>
                  <a:tcPr marL="64008" marR="64008" marT="27432" marB="27432" anchor="ctr"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22B30"/>
                          </a:solidFill>
                          <a:latin typeface="Calibri"/>
                        </a:rPr>
                        <a:t>0.671</a:t>
                      </a:r>
                    </a:p>
                  </a:txBody>
                  <a:tcPr marL="64008" marR="64008" marT="27432" marB="27432" anchor="ctr"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 dirty="0">
                          <a:solidFill>
                            <a:srgbClr val="222B30"/>
                          </a:solidFill>
                          <a:latin typeface="Calibri"/>
                        </a:rPr>
                        <a:t>0.634</a:t>
                      </a:r>
                    </a:p>
                  </a:txBody>
                  <a:tcPr marL="64008" marR="64008" marT="27432" marB="27432" anchor="ctr">
                    <a:solidFill>
                      <a:srgbClr val="F5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84048" y="6382512"/>
            <a:ext cx="1072865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7A878E"/>
                </a:solidFill>
                <a:latin typeface="Calibri"/>
              </a:rPr>
              <a:t>Source: PANORAMA supplementary appendix, Figure S8 (Alves N, Schuurmans M, Rutkowski D, et al. Lancet Oncol 2025). AUROC = area under the ROC curve (patient-level diagnosis); AP = average precision (lesion-level detection). Ensemble AI system = equal-weighted average of the top-3 (Liu + Deng + Debs/Vetil). Sensitivity/specificity: see slide 3.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08441" y="6382512"/>
            <a:ext cx="26321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3E9AAD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03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0" tIns="118872" rtlCol="0" anchor="ctr"/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Availability, Code &amp; Resources</a:t>
            </a:r>
          </a:p>
          <a:p>
            <a:r>
              <a:rPr sz="1600" b="0" i="0">
                <a:solidFill>
                  <a:srgbClr val="C7DEE4"/>
                </a:solidFill>
                <a:latin typeface="Calibri"/>
              </a:rPr>
              <a:t>What is truly public per model — and where embeddings can be extracted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50292"/>
          </a:xfrm>
          <a:prstGeom prst="rect">
            <a:avLst/>
          </a:prstGeom>
          <a:solidFill>
            <a:srgbClr val="126E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0318012"/>
              </p:ext>
            </p:extLst>
          </p:nvPr>
        </p:nvGraphicFramePr>
        <p:xfrm>
          <a:off x="384048" y="1280160"/>
          <a:ext cx="11521440" cy="2926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80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600" b="1" i="0" dirty="0">
                          <a:solidFill>
                            <a:srgbClr val="FFFFFF"/>
                          </a:solidFill>
                          <a:latin typeface="Calibri"/>
                        </a:rPr>
                        <a:t>Model (team)</a:t>
                      </a:r>
                    </a:p>
                  </a:txBody>
                  <a:tcPr marL="64008" marR="64008" marT="27432" marB="27432" anchor="ctr">
                    <a:solidFill>
                      <a:srgbClr val="126E8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Source code</a:t>
                      </a:r>
                    </a:p>
                  </a:txBody>
                  <a:tcPr marL="64008" marR="64008" marT="27432" marB="27432" anchor="ctr">
                    <a:solidFill>
                      <a:srgbClr val="126E8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Weights</a:t>
                      </a:r>
                    </a:p>
                  </a:txBody>
                  <a:tcPr marL="64008" marR="64008" marT="27432" marB="27432" anchor="ctr">
                    <a:solidFill>
                      <a:srgbClr val="126E8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Inference container
(grand-challenge.org)</a:t>
                      </a:r>
                    </a:p>
                  </a:txBody>
                  <a:tcPr marL="64008" marR="64008" marT="27432" marB="27432" anchor="ctr">
                    <a:solidFill>
                      <a:srgbClr val="126E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Embedding
extraction</a:t>
                      </a:r>
                    </a:p>
                  </a:txBody>
                  <a:tcPr marL="64008" marR="64008" marT="27432" marB="27432" anchor="ctr">
                    <a:solidFill>
                      <a:srgbClr val="126E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222B30"/>
                          </a:solidFill>
                          <a:latin typeface="Calibri"/>
                        </a:rPr>
                        <a:t>PANORAMA baseline (Radboud)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222B30"/>
                          </a:solidFill>
                          <a:latin typeface="Calibri"/>
                        </a:rPr>
                        <a:t>github.com/DIAGNijmegen/PANORAMA_baseline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222B30"/>
                          </a:solidFill>
                          <a:latin typeface="Calibri"/>
                        </a:rPr>
                        <a:t>Zenodo 11160381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222B30"/>
                          </a:solidFill>
                          <a:latin typeface="Calibri"/>
                        </a:rPr>
                        <a:t>algorithms/baseline-panorama/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rgbClr val="1B7A3D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222B30"/>
                          </a:solidFill>
                          <a:latin typeface="Calibri"/>
                        </a:rPr>
                        <a:t>H. Liu — DTI (Siemens)</a:t>
                      </a:r>
                    </a:p>
                  </a:txBody>
                  <a:tcPr marL="64008" marR="64008" marT="27432" marB="27432" anchor="ctr"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222B30"/>
                          </a:solidFill>
                          <a:latin typeface="Calibri"/>
                        </a:rPr>
                        <a:t>github.com/han-liu/PDAC_Detection</a:t>
                      </a:r>
                    </a:p>
                  </a:txBody>
                  <a:tcPr marL="64008" marR="64008" marT="27432" marB="27432" anchor="ctr"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222B30"/>
                          </a:solidFill>
                          <a:latin typeface="Calibri"/>
                        </a:rPr>
                        <a:t>Google Drive (link in README)</a:t>
                      </a:r>
                    </a:p>
                  </a:txBody>
                  <a:tcPr marL="64008" marR="64008" marT="27432" marB="27432" anchor="ctr"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222B30"/>
                          </a:solidFill>
                          <a:latin typeface="Calibri"/>
                        </a:rPr>
                        <a:t>algorithms/attempt/</a:t>
                      </a:r>
                    </a:p>
                  </a:txBody>
                  <a:tcPr marL="64008" marR="64008" marT="27432" marB="27432" anchor="ctr"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rgbClr val="1B7A3D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64008" marR="64008" marT="27432" marB="27432" anchor="ctr">
                    <a:solidFill>
                      <a:srgbClr val="F5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222B30"/>
                          </a:solidFill>
                          <a:latin typeface="Calibri"/>
                        </a:rPr>
                        <a:t>Z. Deng — Hero of Ages (Cedars-Sinai)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222B30"/>
                          </a:solidFill>
                          <a:latin typeface="Calibri"/>
                        </a:rPr>
                        <a:t>not public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222B30"/>
                          </a:solidFill>
                          <a:latin typeface="Calibri"/>
                        </a:rPr>
                        <a:t>not public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222B30"/>
                          </a:solidFill>
                          <a:latin typeface="Calibri"/>
                        </a:rPr>
                        <a:t>algorithms/heroofage/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rgbClr val="B02A2A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222B30"/>
                          </a:solidFill>
                          <a:latin typeface="Calibri"/>
                        </a:rPr>
                        <a:t>N. Debs / R. Vetil — Panoramix (Guerbet)</a:t>
                      </a:r>
                    </a:p>
                  </a:txBody>
                  <a:tcPr marL="64008" marR="64008" marT="27432" marB="27432" anchor="ctr"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222B30"/>
                          </a:solidFill>
                          <a:latin typeface="Calibri"/>
                        </a:rPr>
                        <a:t>not public</a:t>
                      </a:r>
                    </a:p>
                  </a:txBody>
                  <a:tcPr marL="64008" marR="64008" marT="27432" marB="27432" anchor="ctr"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222B30"/>
                          </a:solidFill>
                          <a:latin typeface="Calibri"/>
                        </a:rPr>
                        <a:t>not public</a:t>
                      </a:r>
                    </a:p>
                  </a:txBody>
                  <a:tcPr marL="64008" marR="64008" marT="27432" marB="27432" anchor="ctr"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222B30"/>
                          </a:solidFill>
                          <a:latin typeface="Calibri"/>
                        </a:rPr>
                        <a:t>algorithms/test-79/</a:t>
                      </a:r>
                    </a:p>
                  </a:txBody>
                  <a:tcPr marL="64008" marR="64008" marT="27432" marB="27432" anchor="ctr"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rgbClr val="B02A2A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64008" marR="64008" marT="27432" marB="27432" anchor="ctr">
                    <a:solidFill>
                      <a:srgbClr val="F5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 i="0" dirty="0">
                          <a:solidFill>
                            <a:srgbClr val="222B30"/>
                          </a:solidFill>
                          <a:latin typeface="Calibri"/>
                        </a:rPr>
                        <a:t>Y. Ching-Yuan — Fight Tumor (UHN)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 dirty="0">
                          <a:solidFill>
                            <a:srgbClr val="222B30"/>
                          </a:solidFill>
                          <a:latin typeface="Calibri"/>
                        </a:rPr>
                        <a:t>not public *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222B30"/>
                          </a:solidFill>
                          <a:latin typeface="Calibri"/>
                        </a:rPr>
                        <a:t>not public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222B30"/>
                          </a:solidFill>
                          <a:latin typeface="Calibri"/>
                        </a:rPr>
                        <a:t>algorithms/submission_1111/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 dirty="0">
                          <a:solidFill>
                            <a:srgbClr val="B02A2A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133087"/>
            <a:ext cx="11420856" cy="2084831"/>
          </a:xfrm>
          <a:prstGeom prst="roundRect">
            <a:avLst>
              <a:gd name="adj" fmla="val 4000"/>
            </a:avLst>
          </a:prstGeom>
          <a:solidFill>
            <a:srgbClr val="ECF5F7"/>
          </a:solidFill>
          <a:ln w="12700">
            <a:solidFill>
              <a:srgbClr val="D6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18872" rIns="201168" rtlCol="0" anchor="ctr"/>
          <a:lstStyle/>
          <a:p>
            <a:pPr algn="ctr">
              <a:spcAft>
                <a:spcPts val="600"/>
              </a:spcAft>
            </a:pPr>
            <a:r>
              <a:rPr b="1" i="0">
                <a:solidFill>
                  <a:srgbClr val="126E82"/>
                </a:solidFill>
                <a:latin typeface="Calibri"/>
              </a:rPr>
              <a:t>Shared resources (for retraining / evaluation)</a:t>
            </a:r>
          </a:p>
          <a:p>
            <a:pPr>
              <a:spcAft>
                <a:spcPts val="400"/>
              </a:spcAft>
            </a:pPr>
            <a:r>
              <a:rPr sz="1400" b="1" i="0">
                <a:solidFill>
                  <a:srgbClr val="103345"/>
                </a:solidFill>
                <a:latin typeface="Calibri"/>
              </a:rPr>
              <a:t>▸ Annotations / labels:  </a:t>
            </a:r>
            <a:r>
              <a:rPr sz="1400" b="0" i="0">
                <a:solidFill>
                  <a:srgbClr val="3D4A52"/>
                </a:solidFill>
                <a:latin typeface="Calibri"/>
              </a:rPr>
              <a:t>github.com/DIAGNijmegen/panorama_labels</a:t>
            </a:r>
          </a:p>
          <a:p>
            <a:pPr>
              <a:spcAft>
                <a:spcPts val="400"/>
              </a:spcAft>
            </a:pPr>
            <a:r>
              <a:rPr sz="1400" b="1" i="0">
                <a:solidFill>
                  <a:srgbClr val="103345"/>
                </a:solidFill>
                <a:latin typeface="Calibri"/>
              </a:rPr>
              <a:t>▸ Images (2238 CT scans):  </a:t>
            </a:r>
            <a:r>
              <a:rPr sz="1400" b="0" i="0">
                <a:solidFill>
                  <a:srgbClr val="3D4A52"/>
                </a:solidFill>
                <a:latin typeface="Calibri"/>
              </a:rPr>
              <a:t>Zenodo records 13715870, 13742336, 11034011, 10999754</a:t>
            </a:r>
          </a:p>
          <a:p>
            <a:pPr>
              <a:spcAft>
                <a:spcPts val="400"/>
              </a:spcAft>
            </a:pPr>
            <a:r>
              <a:rPr sz="1400" b="1" i="0">
                <a:solidFill>
                  <a:srgbClr val="103345"/>
                </a:solidFill>
                <a:latin typeface="Calibri"/>
              </a:rPr>
              <a:t>▸ Official evaluator:  </a:t>
            </a:r>
            <a:r>
              <a:rPr sz="1400" b="0" i="0">
                <a:solidFill>
                  <a:srgbClr val="3D4A52"/>
                </a:solidFill>
                <a:latin typeface="Calibri"/>
              </a:rPr>
              <a:t>github.com/DIAGNijmegen/PANORAMA_gc_evaluator</a:t>
            </a:r>
          </a:p>
          <a:p>
            <a:pPr>
              <a:spcAft>
                <a:spcPts val="400"/>
              </a:spcAft>
            </a:pPr>
            <a:r>
              <a:rPr sz="1400" b="1" i="0">
                <a:solidFill>
                  <a:srgbClr val="103345"/>
                </a:solidFill>
                <a:latin typeface="Calibri"/>
              </a:rPr>
              <a:t>▸ Pre-registered protocol:  </a:t>
            </a:r>
            <a:r>
              <a:rPr sz="1400" b="0" i="0">
                <a:solidFill>
                  <a:srgbClr val="3D4A52"/>
                </a:solidFill>
                <a:latin typeface="Calibri"/>
              </a:rPr>
              <a:t>Zenodo 10599559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382512"/>
            <a:ext cx="1072865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7A878E"/>
                </a:solidFill>
                <a:latin typeface="Calibri"/>
              </a:rPr>
              <a:t>Embedding extraction is feasible only where code + weights are public (baseline, Liu). The other three are inference-only containers: images are uploaded to the platform and only outputs are returned.  * Fight Tumor's cited URL points to Liu's repository, which does not contain their FPN classification code.  Source: suppl. appendix §S4.1 and team method papers §S4.4.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95617" y="6382512"/>
            <a:ext cx="27603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 i="0">
                <a:solidFill>
                  <a:srgbClr val="3E9AAD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03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0" tIns="118872" rtlCol="0" anchor="ctr"/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Sensitivity &amp; Specificity — and Key Notes</a:t>
            </a:r>
          </a:p>
          <a:p>
            <a:r>
              <a:rPr sz="1600" b="0" i="0">
                <a:solidFill>
                  <a:srgbClr val="C7DEE4"/>
                </a:solidFill>
                <a:latin typeface="Calibri"/>
              </a:rPr>
              <a:t>Reported only for the ensemble AI system, not per individual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50292"/>
          </a:xfrm>
          <a:prstGeom prst="rect">
            <a:avLst/>
          </a:prstGeom>
          <a:solidFill>
            <a:srgbClr val="126E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0249195"/>
              </p:ext>
            </p:extLst>
          </p:nvPr>
        </p:nvGraphicFramePr>
        <p:xfrm>
          <a:off x="384048" y="1298448"/>
          <a:ext cx="11521439" cy="1493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490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800" b="1" i="0" dirty="0">
                          <a:solidFill>
                            <a:srgbClr val="FFFFFF"/>
                          </a:solidFill>
                          <a:latin typeface="Calibri"/>
                        </a:rPr>
                        <a:t>Ensemble AI system</a:t>
                      </a:r>
                    </a:p>
                  </a:txBody>
                  <a:tcPr marL="64008" marR="64008" marT="27432" marB="27432" anchor="ctr">
                    <a:solidFill>
                      <a:srgbClr val="126E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rgbClr val="FFFFFF"/>
                          </a:solidFill>
                          <a:latin typeface="Calibri"/>
                        </a:rPr>
                        <a:t>Sensitivity</a:t>
                      </a:r>
                    </a:p>
                  </a:txBody>
                  <a:tcPr marL="64008" marR="64008" marT="27432" marB="27432" anchor="ctr">
                    <a:solidFill>
                      <a:srgbClr val="126E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rgbClr val="FFFFFF"/>
                          </a:solidFill>
                          <a:latin typeface="Calibri"/>
                        </a:rPr>
                        <a:t>Specificity</a:t>
                      </a:r>
                    </a:p>
                  </a:txBody>
                  <a:tcPr marL="64008" marR="64008" marT="27432" marB="27432" anchor="ctr">
                    <a:solidFill>
                      <a:srgbClr val="126E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rgbClr val="FFFFFF"/>
                          </a:solidFill>
                          <a:latin typeface="Calibri"/>
                        </a:rPr>
                        <a:t>Operating point</a:t>
                      </a:r>
                    </a:p>
                  </a:txBody>
                  <a:tcPr marL="64008" marR="64008" marT="27432" marB="27432" anchor="ctr">
                    <a:solidFill>
                      <a:srgbClr val="126E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222B30"/>
                          </a:solidFill>
                          <a:latin typeface="Calibri"/>
                        </a:rPr>
                        <a:t>Sequestered testing cohort (n=1130)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22B30"/>
                          </a:solidFill>
                          <a:latin typeface="Calibri"/>
                        </a:rPr>
                        <a:t>85.7%  (95% CI 82.8–89.5)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22B30"/>
                          </a:solidFill>
                          <a:latin typeface="Calibri"/>
                        </a:rPr>
                        <a:t>83.5%  (95% CI 80.9–86.3)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22B30"/>
                          </a:solidFill>
                          <a:latin typeface="Calibri"/>
                        </a:rPr>
                        <a:t>optimal ROC threshold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222B30"/>
                          </a:solidFill>
                          <a:latin typeface="Calibri"/>
                        </a:rPr>
                        <a:t>Reader-study subset (n=391)</a:t>
                      </a:r>
                    </a:p>
                  </a:txBody>
                  <a:tcPr marL="64008" marR="64008" marT="27432" marB="27432" anchor="ctr"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22B30"/>
                          </a:solidFill>
                          <a:latin typeface="Calibri"/>
                        </a:rPr>
                        <a:t>85.4%  (95% CI 75.5–87.8)</a:t>
                      </a:r>
                    </a:p>
                  </a:txBody>
                  <a:tcPr marL="64008" marR="64008" marT="27432" marB="27432" anchor="ctr"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22B30"/>
                          </a:solidFill>
                          <a:latin typeface="Calibri"/>
                        </a:rPr>
                        <a:t>84.6%  (95% CI 81.0–89.8)</a:t>
                      </a:r>
                    </a:p>
                  </a:txBody>
                  <a:tcPr marL="64008" marR="64008" marT="27432" marB="27432" anchor="ctr"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 dirty="0">
                          <a:solidFill>
                            <a:srgbClr val="222B30"/>
                          </a:solidFill>
                          <a:latin typeface="Calibri"/>
                        </a:rPr>
                        <a:t>optimal ROC operating point</a:t>
                      </a:r>
                    </a:p>
                  </a:txBody>
                  <a:tcPr marL="64008" marR="64008" marT="27432" marB="27432" anchor="ctr">
                    <a:solidFill>
                      <a:srgbClr val="F5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3063240"/>
            <a:ext cx="11420856" cy="3127248"/>
          </a:xfrm>
          <a:prstGeom prst="roundRect">
            <a:avLst>
              <a:gd name="adj" fmla="val 4000"/>
            </a:avLst>
          </a:prstGeom>
          <a:solidFill>
            <a:srgbClr val="ECF5F7"/>
          </a:solidFill>
          <a:ln w="12700">
            <a:solidFill>
              <a:srgbClr val="D6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18872" rIns="201168" rtlCol="0" anchor="ctr"/>
          <a:lstStyle/>
          <a:p>
            <a:pPr algn="ctr">
              <a:spcAft>
                <a:spcPts val="600"/>
              </a:spcAft>
            </a:pPr>
            <a:r>
              <a:rPr b="1" i="0" dirty="0">
                <a:solidFill>
                  <a:srgbClr val="126E82"/>
                </a:solidFill>
                <a:latin typeface="Calibri"/>
              </a:rPr>
              <a:t>Key notes</a:t>
            </a:r>
          </a:p>
          <a:p>
            <a:pPr>
              <a:spcAft>
                <a:spcPts val="400"/>
              </a:spcAft>
            </a:pPr>
            <a:r>
              <a:rPr sz="1400" b="1" i="0" dirty="0">
                <a:solidFill>
                  <a:srgbClr val="103345"/>
                </a:solidFill>
                <a:latin typeface="Calibri"/>
              </a:rPr>
              <a:t>▸ Per-model sensitivity/specificity are NOT reported.  </a:t>
            </a:r>
            <a:r>
              <a:rPr sz="1400" b="0" i="0" dirty="0">
                <a:solidFill>
                  <a:srgbClr val="3D4A52"/>
                </a:solidFill>
                <a:latin typeface="Calibri"/>
              </a:rPr>
              <a:t>Figure S8 gives only AUROC and AP per model; </a:t>
            </a:r>
            <a:r>
              <a:rPr sz="1400" b="0" i="0" dirty="0" err="1">
                <a:solidFill>
                  <a:srgbClr val="3D4A52"/>
                </a:solidFill>
                <a:latin typeface="Calibri"/>
              </a:rPr>
              <a:t>sens</a:t>
            </a:r>
            <a:r>
              <a:rPr sz="1400" b="0" i="0" dirty="0">
                <a:solidFill>
                  <a:srgbClr val="3D4A52"/>
                </a:solidFill>
                <a:latin typeface="Calibri"/>
              </a:rPr>
              <a:t>/spec are published only for the ensemble AI system (above).</a:t>
            </a:r>
          </a:p>
          <a:p>
            <a:pPr>
              <a:spcAft>
                <a:spcPts val="400"/>
              </a:spcAft>
            </a:pPr>
            <a:r>
              <a:rPr sz="1400" b="1" i="0" dirty="0">
                <a:solidFill>
                  <a:srgbClr val="103345"/>
                </a:solidFill>
                <a:latin typeface="Calibri"/>
              </a:rPr>
              <a:t>▸ Embedding extraction:  </a:t>
            </a:r>
            <a:r>
              <a:rPr sz="1400" b="0" i="0" dirty="0">
                <a:solidFill>
                  <a:srgbClr val="3D4A52"/>
                </a:solidFill>
                <a:latin typeface="Calibri"/>
              </a:rPr>
              <a:t>feasible only for H. Liu (DTI) and the PANORAMA baseline — the only models with public code + weights.</a:t>
            </a:r>
          </a:p>
          <a:p>
            <a:pPr>
              <a:spcAft>
                <a:spcPts val="400"/>
              </a:spcAft>
            </a:pPr>
            <a:r>
              <a:rPr sz="1400" b="1" i="0" dirty="0">
                <a:solidFill>
                  <a:srgbClr val="103345"/>
                </a:solidFill>
                <a:latin typeface="Calibri"/>
              </a:rPr>
              <a:t>▸ AI vs radiologists (n=391):  </a:t>
            </a:r>
            <a:r>
              <a:rPr sz="1400" b="0" i="0" dirty="0">
                <a:solidFill>
                  <a:srgbClr val="3D4A52"/>
                </a:solidFill>
                <a:latin typeface="Calibri"/>
              </a:rPr>
              <a:t>ensemble AUROC 0.92 vs radiologists' 0.88 — non-inferior (p&lt;0.0001) and superior (p=0.001).</a:t>
            </a:r>
          </a:p>
          <a:p>
            <a:pPr>
              <a:spcAft>
                <a:spcPts val="400"/>
              </a:spcAft>
            </a:pPr>
            <a:r>
              <a:rPr sz="1400" b="1" i="0" dirty="0">
                <a:solidFill>
                  <a:srgbClr val="103345"/>
                </a:solidFill>
                <a:latin typeface="Calibri"/>
              </a:rPr>
              <a:t>▸ No clinical variables used:  </a:t>
            </a:r>
            <a:r>
              <a:rPr sz="1400" b="0" i="0" dirty="0">
                <a:solidFill>
                  <a:srgbClr val="3D4A52"/>
                </a:solidFill>
                <a:latin typeface="Calibri"/>
              </a:rPr>
              <a:t>no algorithm used age/sex/scanner; all rely on the CT image only. All are CNNs (U-Net / </a:t>
            </a:r>
            <a:r>
              <a:rPr sz="1400" b="0" i="0" dirty="0" err="1">
                <a:solidFill>
                  <a:srgbClr val="3D4A52"/>
                </a:solidFill>
                <a:latin typeface="Calibri"/>
              </a:rPr>
              <a:t>nnU</a:t>
            </a:r>
            <a:r>
              <a:rPr sz="1400" b="0" i="0" dirty="0">
                <a:solidFill>
                  <a:srgbClr val="3D4A52"/>
                </a:solidFill>
                <a:latin typeface="Calibri"/>
              </a:rPr>
              <a:t>-Net) — no transformers, no foundation models.</a:t>
            </a:r>
          </a:p>
          <a:p>
            <a:pPr>
              <a:spcAft>
                <a:spcPts val="400"/>
              </a:spcAft>
            </a:pPr>
            <a:r>
              <a:rPr sz="1400" b="1" i="0" dirty="0">
                <a:solidFill>
                  <a:srgbClr val="103345"/>
                </a:solidFill>
                <a:latin typeface="Calibri"/>
              </a:rPr>
              <a:t>▸ Ensemble is not a downloadable model:  </a:t>
            </a:r>
            <a:r>
              <a:rPr sz="1400" b="0" i="0" dirty="0">
                <a:solidFill>
                  <a:srgbClr val="3D4A52"/>
                </a:solidFill>
                <a:latin typeface="Calibri"/>
              </a:rPr>
              <a:t>it is the equal-weighted average of the three top models' patient-level scores, so it must be recomputed from them.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382512"/>
            <a:ext cx="1072865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1">
                <a:solidFill>
                  <a:srgbClr val="7A878E"/>
                </a:solidFill>
                <a:latin typeface="Calibri"/>
              </a:rPr>
              <a:t>Sources: main paper (Findings) and supplementary appendix (Alves N, et al. PANORAMA. Lancet Oncol 2025).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08441" y="6382512"/>
            <a:ext cx="26321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3E9AAD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03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0" tIns="118872" rtlCol="0" anchor="ctr"/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How it works — PANORAMA Baseline (Radboud UMC)</a:t>
            </a:r>
          </a:p>
          <a:p>
            <a:r>
              <a:rPr sz="1600" b="0" i="0">
                <a:solidFill>
                  <a:srgbClr val="C7DEE4"/>
                </a:solidFill>
                <a:latin typeface="Calibri"/>
              </a:rPr>
              <a:t>Two chained nnU-Nets: first find the pancreas, then look for the tumour inside it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50292"/>
          </a:xfrm>
          <a:prstGeom prst="rect">
            <a:avLst/>
          </a:prstGeom>
          <a:solidFill>
            <a:srgbClr val="126E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4" name="Rounded Rectangle 3"/>
          <p:cNvSpPr/>
          <p:nvPr/>
        </p:nvSpPr>
        <p:spPr>
          <a:xfrm>
            <a:off x="384048" y="1444752"/>
            <a:ext cx="2065263" cy="2395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274320" rIns="118872" bIns="91440" rtlCol="0" anchor="ctr"/>
          <a:lstStyle/>
          <a:p>
            <a:pPr algn="ctr">
              <a:spcAft>
                <a:spcPts val="500"/>
              </a:spcAft>
            </a:pPr>
            <a:r>
              <a:rPr b="1" i="0">
                <a:solidFill>
                  <a:srgbClr val="103345"/>
                </a:solidFill>
                <a:latin typeface="Calibri"/>
              </a:rPr>
              <a:t>Input CT</a:t>
            </a:r>
          </a:p>
          <a:p>
            <a:pPr algn="l"/>
            <a:r>
              <a:rPr sz="1200" b="0" i="0">
                <a:solidFill>
                  <a:srgbClr val="3D4A52"/>
                </a:solidFill>
                <a:latin typeface="Calibri"/>
              </a:rPr>
              <a:t>Contrast-enhanced CT, portal-venous phase, whole abdomen. Resampled to a coarse 4.5 × 4.5 × 9.0 mm grid so stage 1 runs fast.</a:t>
            </a:r>
          </a:p>
        </p:txBody>
      </p:sp>
      <p:sp>
        <p:nvSpPr>
          <p:cNvPr id="5" name="Oval 4"/>
          <p:cNvSpPr/>
          <p:nvPr/>
        </p:nvSpPr>
        <p:spPr>
          <a:xfrm>
            <a:off x="1252087" y="1280160"/>
            <a:ext cx="329184" cy="329184"/>
          </a:xfrm>
          <a:prstGeom prst="ellipse">
            <a:avLst/>
          </a:prstGeom>
          <a:solidFill>
            <a:srgbClr val="126E82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4946" y="2319451"/>
            <a:ext cx="603050" cy="64633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600" b="1" i="0">
                <a:solidFill>
                  <a:srgbClr val="126E82"/>
                </a:solidFill>
                <a:latin typeface="Calibri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23631" y="1444752"/>
            <a:ext cx="2065263" cy="2395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274320" rIns="118872" bIns="91440" rtlCol="0" anchor="ctr"/>
          <a:lstStyle/>
          <a:p>
            <a:pPr algn="ctr">
              <a:spcAft>
                <a:spcPts val="500"/>
              </a:spcAft>
            </a:pPr>
            <a:r>
              <a:rPr b="1" i="0">
                <a:solidFill>
                  <a:srgbClr val="103345"/>
                </a:solidFill>
                <a:latin typeface="Calibri"/>
              </a:rPr>
              <a:t>Stage 1
Find the pancreas</a:t>
            </a:r>
          </a:p>
          <a:p>
            <a:pPr algn="l"/>
            <a:r>
              <a:rPr sz="1200" b="0" i="0">
                <a:solidFill>
                  <a:srgbClr val="3D4A52"/>
                </a:solidFill>
                <a:latin typeface="Calibri"/>
              </a:rPr>
              <a:t>A low-resolution nnU-Net predicts a binary pancreas mask (Dice loss). It outputs one class only: “pancreas” vs background.</a:t>
            </a:r>
          </a:p>
        </p:txBody>
      </p:sp>
      <p:sp>
        <p:nvSpPr>
          <p:cNvPr id="8" name="Oval 7"/>
          <p:cNvSpPr/>
          <p:nvPr/>
        </p:nvSpPr>
        <p:spPr>
          <a:xfrm>
            <a:off x="3591671" y="1280160"/>
            <a:ext cx="329184" cy="329184"/>
          </a:xfrm>
          <a:prstGeom prst="ellipse">
            <a:avLst/>
          </a:prstGeom>
          <a:solidFill>
            <a:srgbClr val="126E82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24530" y="2319451"/>
            <a:ext cx="603050" cy="64633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600" b="1" i="0">
                <a:solidFill>
                  <a:srgbClr val="126E82"/>
                </a:solidFill>
                <a:latin typeface="Calibr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63215" y="1444752"/>
            <a:ext cx="2065263" cy="2395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274320" rIns="118872" bIns="91440" rtlCol="0" anchor="ctr"/>
          <a:lstStyle/>
          <a:p>
            <a:pPr algn="ctr">
              <a:spcAft>
                <a:spcPts val="500"/>
              </a:spcAft>
            </a:pPr>
            <a:r>
              <a:rPr b="1" i="0">
                <a:solidFill>
                  <a:srgbClr val="103345"/>
                </a:solidFill>
                <a:latin typeface="Calibri"/>
              </a:rPr>
              <a:t>Crop the box</a:t>
            </a:r>
          </a:p>
          <a:p>
            <a:pPr algn="l"/>
            <a:r>
              <a:rPr sz="1200" b="0" i="0">
                <a:solidFill>
                  <a:srgbClr val="3D4A52"/>
                </a:solidFill>
                <a:latin typeface="Calibri"/>
              </a:rPr>
              <a:t>The bounding box of that predicted mask, enlarged by a margin of 100 × 50 × 15 mm, is cut out of the full-resolution CT.</a:t>
            </a:r>
          </a:p>
        </p:txBody>
      </p:sp>
      <p:sp>
        <p:nvSpPr>
          <p:cNvPr id="11" name="Oval 10"/>
          <p:cNvSpPr/>
          <p:nvPr/>
        </p:nvSpPr>
        <p:spPr>
          <a:xfrm>
            <a:off x="5931255" y="1280160"/>
            <a:ext cx="329184" cy="329184"/>
          </a:xfrm>
          <a:prstGeom prst="ellipse">
            <a:avLst/>
          </a:prstGeom>
          <a:solidFill>
            <a:srgbClr val="126E82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64114" y="2319451"/>
            <a:ext cx="603050" cy="64633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600" b="1" i="0">
                <a:solidFill>
                  <a:srgbClr val="126E82"/>
                </a:solidFill>
                <a:latin typeface="Calibr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2799" y="1444752"/>
            <a:ext cx="2065263" cy="2395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274320" rIns="118872" bIns="91440" rtlCol="0" anchor="ctr"/>
          <a:lstStyle/>
          <a:p>
            <a:pPr algn="ctr">
              <a:spcAft>
                <a:spcPts val="500"/>
              </a:spcAft>
            </a:pPr>
            <a:r>
              <a:rPr b="1" i="0">
                <a:solidFill>
                  <a:srgbClr val="103345"/>
                </a:solidFill>
                <a:latin typeface="Calibri"/>
              </a:rPr>
              <a:t>Stage 2
Find the tumour</a:t>
            </a:r>
          </a:p>
          <a:p>
            <a:pPr algn="l"/>
            <a:r>
              <a:rPr sz="1200" b="0" i="0">
                <a:solidFill>
                  <a:srgbClr val="3D4A52"/>
                </a:solidFill>
                <a:latin typeface="Calibri"/>
              </a:rPr>
              <a:t>A high-resolution nnU-Net runs on the crop and segments 7 classes: tumour, veins, arteries, pancreas, pancreatic duct, bile duct (cross-entropy loss).</a:t>
            </a:r>
          </a:p>
        </p:txBody>
      </p:sp>
      <p:sp>
        <p:nvSpPr>
          <p:cNvPr id="14" name="Oval 13"/>
          <p:cNvSpPr/>
          <p:nvPr/>
        </p:nvSpPr>
        <p:spPr>
          <a:xfrm>
            <a:off x="8270839" y="1280160"/>
            <a:ext cx="329184" cy="329184"/>
          </a:xfrm>
          <a:prstGeom prst="ellipse">
            <a:avLst/>
          </a:prstGeom>
          <a:solidFill>
            <a:srgbClr val="126E82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03698" y="2319451"/>
            <a:ext cx="603050" cy="64633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600" b="1" i="0">
                <a:solidFill>
                  <a:srgbClr val="126E82"/>
                </a:solidFill>
                <a:latin typeface="Calibr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742383" y="1444752"/>
            <a:ext cx="2065263" cy="2395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274320" rIns="118872" bIns="91440" rtlCol="0" anchor="ctr"/>
          <a:lstStyle/>
          <a:p>
            <a:pPr algn="ctr">
              <a:spcAft>
                <a:spcPts val="500"/>
              </a:spcAft>
            </a:pPr>
            <a:r>
              <a:rPr b="1" i="0" dirty="0">
                <a:solidFill>
                  <a:srgbClr val="103345"/>
                </a:solidFill>
                <a:latin typeface="Calibri"/>
              </a:rPr>
              <a:t>Clean up &amp; output</a:t>
            </a:r>
          </a:p>
          <a:p>
            <a:pPr algn="l"/>
            <a:r>
              <a:rPr sz="1200" b="0" i="0" dirty="0" err="1">
                <a:solidFill>
                  <a:srgbClr val="3D4A52"/>
                </a:solidFill>
                <a:latin typeface="Calibri"/>
              </a:rPr>
              <a:t>Tumour</a:t>
            </a:r>
            <a:r>
              <a:rPr sz="1200" b="0" i="0">
                <a:solidFill>
                  <a:srgbClr val="3D4A52"/>
                </a:solidFill>
                <a:latin typeface="Calibri"/>
              </a:rPr>
              <a:t> probability is kept only inside the dilated pancreas (5×5×5), lesion candidates are extracted, and the map is placed back into the full CT.</a:t>
            </a:r>
          </a:p>
        </p:txBody>
      </p:sp>
      <p:sp>
        <p:nvSpPr>
          <p:cNvPr id="17" name="Oval 16"/>
          <p:cNvSpPr/>
          <p:nvPr/>
        </p:nvSpPr>
        <p:spPr>
          <a:xfrm>
            <a:off x="10610423" y="1280160"/>
            <a:ext cx="329184" cy="329184"/>
          </a:xfrm>
          <a:prstGeom prst="ellipse">
            <a:avLst/>
          </a:prstGeom>
          <a:solidFill>
            <a:srgbClr val="126E82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4048" y="4206240"/>
            <a:ext cx="11420856" cy="2011680"/>
          </a:xfrm>
          <a:prstGeom prst="roundRect">
            <a:avLst>
              <a:gd name="adj" fmla="val 4000"/>
            </a:avLst>
          </a:prstGeom>
          <a:solidFill>
            <a:srgbClr val="ECF5F7"/>
          </a:solidFill>
          <a:ln w="12700">
            <a:solidFill>
              <a:srgbClr val="D6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18872" rIns="201168" rtlCol="0" anchor="ctr"/>
          <a:lstStyle/>
          <a:p>
            <a:pPr algn="ctr">
              <a:spcAft>
                <a:spcPts val="600"/>
              </a:spcAft>
            </a:pPr>
            <a:r>
              <a:rPr b="1" i="0">
                <a:solidFill>
                  <a:srgbClr val="126E82"/>
                </a:solidFill>
                <a:latin typeface="Calibri"/>
              </a:rPr>
              <a:t>Two outputs — and the metric each one feeds</a:t>
            </a:r>
          </a:p>
          <a:p>
            <a:pPr>
              <a:spcAft>
                <a:spcPts val="400"/>
              </a:spcAft>
            </a:pPr>
            <a:r>
              <a:rPr sz="1400" b="1" i="0">
                <a:solidFill>
                  <a:srgbClr val="103345"/>
                </a:solidFill>
                <a:latin typeface="Calibri"/>
              </a:rPr>
              <a:t>▸ 3D detection map:  </a:t>
            </a:r>
            <a:r>
              <a:rPr sz="1400" b="0" i="0">
                <a:solidFill>
                  <a:srgbClr val="3D4A52"/>
                </a:solidFill>
                <a:latin typeface="Calibri"/>
              </a:rPr>
              <a:t>same size as the CT; each candidate lesion carries a confidence 0–1. Scored by AP — a candidate counts as correct if its IoU with the true tumour is ≥ 0.1.</a:t>
            </a:r>
          </a:p>
          <a:p>
            <a:pPr>
              <a:spcAft>
                <a:spcPts val="400"/>
              </a:spcAft>
            </a:pPr>
            <a:r>
              <a:rPr sz="1400" b="1" i="0">
                <a:solidFill>
                  <a:srgbClr val="103345"/>
                </a:solidFill>
                <a:latin typeface="Calibri"/>
              </a:rPr>
              <a:t>▸ Patient likelihood score:  </a:t>
            </a:r>
            <a:r>
              <a:rPr sz="1400" b="0" i="0">
                <a:solidFill>
                  <a:srgbClr val="3D4A52"/>
                </a:solidFill>
                <a:latin typeface="Calibri"/>
              </a:rPr>
              <a:t>the maximum value of the detection map — one number 0–1 per patient. Scored by AUROC.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" y="6382512"/>
            <a:ext cx="1072865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7A878E"/>
                </a:solidFill>
                <a:latin typeface="Calibri"/>
              </a:rPr>
              <a:t>Sources: PANORAMA_baseline README and source code (src/process.py, src/data_utils.py, Dataset103/Dataset104 dataset.json); hit criterion (IoU ≥ 0.1) from suppl. appendix §S4.2. Ground-truth segmentations are used only to train the networks, never as input at inference.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608441" y="6382512"/>
            <a:ext cx="26321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3E9AAD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03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0" tIns="118872" rtlCol="0" anchor="ctr"/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How it works — H. Liu “PanDx”, Team DTI (Siemens Healthineers)</a:t>
            </a:r>
          </a:p>
          <a:p>
            <a:r>
              <a:rPr sz="1600" b="0" i="0">
                <a:solidFill>
                  <a:srgbClr val="C7DEE4"/>
                </a:solidFill>
                <a:latin typeface="Calibri"/>
              </a:rPr>
              <a:t>1st place: same two-stage idea, but stage 1 is reused and stage 2 is rebuilt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50292"/>
          </a:xfrm>
          <a:prstGeom prst="rect">
            <a:avLst/>
          </a:prstGeom>
          <a:solidFill>
            <a:srgbClr val="C1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Rounded Rectangle 3"/>
          <p:cNvSpPr/>
          <p:nvPr/>
        </p:nvSpPr>
        <p:spPr>
          <a:xfrm>
            <a:off x="384048" y="1444752"/>
            <a:ext cx="2065263" cy="2395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274320" rIns="118872" bIns="91440" rtlCol="0" anchor="ctr"/>
          <a:lstStyle/>
          <a:p>
            <a:pPr algn="ctr">
              <a:spcAft>
                <a:spcPts val="500"/>
              </a:spcAft>
            </a:pPr>
            <a:r>
              <a:rPr b="1" i="0">
                <a:solidFill>
                  <a:srgbClr val="103345"/>
                </a:solidFill>
                <a:latin typeface="Calibri"/>
              </a:rPr>
              <a:t>Input CT</a:t>
            </a:r>
          </a:p>
          <a:p>
            <a:pPr algn="l"/>
            <a:r>
              <a:rPr sz="1200" b="0" i="0">
                <a:solidFill>
                  <a:srgbClr val="3D4A52"/>
                </a:solidFill>
                <a:latin typeface="Calibri"/>
              </a:rPr>
              <a:t>Contrast-enhanced CT, portal-venous phase. The CT image is the only input — no age, sex or scanner data is used.</a:t>
            </a:r>
          </a:p>
        </p:txBody>
      </p:sp>
      <p:sp>
        <p:nvSpPr>
          <p:cNvPr id="5" name="Oval 4"/>
          <p:cNvSpPr/>
          <p:nvPr/>
        </p:nvSpPr>
        <p:spPr>
          <a:xfrm>
            <a:off x="1252087" y="1280160"/>
            <a:ext cx="329184" cy="329184"/>
          </a:xfrm>
          <a:prstGeom prst="ellipse">
            <a:avLst/>
          </a:prstGeom>
          <a:solidFill>
            <a:srgbClr val="C18A1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4946" y="2319451"/>
            <a:ext cx="603050" cy="64633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600" b="1" i="0">
                <a:solidFill>
                  <a:srgbClr val="C18A1E"/>
                </a:solidFill>
                <a:latin typeface="Calibri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23631" y="1444752"/>
            <a:ext cx="2065263" cy="2395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274320" rIns="118872" bIns="91440" rtlCol="0" anchor="ctr"/>
          <a:lstStyle/>
          <a:p>
            <a:pPr algn="ctr">
              <a:spcAft>
                <a:spcPts val="500"/>
              </a:spcAft>
            </a:pPr>
            <a:r>
              <a:rPr b="1" i="0">
                <a:solidFill>
                  <a:srgbClr val="103345"/>
                </a:solidFill>
                <a:latin typeface="Calibri"/>
              </a:rPr>
              <a:t>Stage 1
Reuse the baseline</a:t>
            </a:r>
          </a:p>
          <a:p>
            <a:pPr algn="l"/>
            <a:r>
              <a:rPr sz="1200" b="0" i="0">
                <a:solidFill>
                  <a:srgbClr val="3D4A52"/>
                </a:solidFill>
                <a:latin typeface="Calibri"/>
              </a:rPr>
              <a:t>Takes the baseline's pretrained low-resolution nnU-Net unchanged — “eliminating the need for retraining”. It segments the union of tumour + parenchyma + duct.</a:t>
            </a:r>
          </a:p>
        </p:txBody>
      </p:sp>
      <p:sp>
        <p:nvSpPr>
          <p:cNvPr id="8" name="Oval 7"/>
          <p:cNvSpPr/>
          <p:nvPr/>
        </p:nvSpPr>
        <p:spPr>
          <a:xfrm>
            <a:off x="3591671" y="1280160"/>
            <a:ext cx="329184" cy="329184"/>
          </a:xfrm>
          <a:prstGeom prst="ellipse">
            <a:avLst/>
          </a:prstGeom>
          <a:solidFill>
            <a:srgbClr val="C18A1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24530" y="2319451"/>
            <a:ext cx="603050" cy="64633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600" b="1" i="0">
                <a:solidFill>
                  <a:srgbClr val="C18A1E"/>
                </a:solidFill>
                <a:latin typeface="Calibr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63215" y="1444752"/>
            <a:ext cx="2065263" cy="2395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274320" rIns="118872" bIns="91440" rtlCol="0" anchor="ctr"/>
          <a:lstStyle/>
          <a:p>
            <a:pPr algn="ctr">
              <a:spcAft>
                <a:spcPts val="500"/>
              </a:spcAft>
            </a:pPr>
            <a:r>
              <a:rPr b="1" i="0">
                <a:solidFill>
                  <a:srgbClr val="103345"/>
                </a:solidFill>
                <a:latin typeface="Calibri"/>
              </a:rPr>
              <a:t>Crop the box</a:t>
            </a:r>
          </a:p>
          <a:p>
            <a:pPr algn="l"/>
            <a:r>
              <a:rPr sz="1200" b="0" i="0">
                <a:solidFill>
                  <a:srgbClr val="3D4A52"/>
                </a:solidFill>
                <a:latin typeface="Calibri"/>
              </a:rPr>
              <a:t>The ROI is cropped from the high-resolution image with a margin of 100 × 50 × 15 mm — same geometry as the baseline.</a:t>
            </a:r>
          </a:p>
        </p:txBody>
      </p:sp>
      <p:sp>
        <p:nvSpPr>
          <p:cNvPr id="11" name="Oval 10"/>
          <p:cNvSpPr/>
          <p:nvPr/>
        </p:nvSpPr>
        <p:spPr>
          <a:xfrm>
            <a:off x="5931255" y="1280160"/>
            <a:ext cx="329184" cy="329184"/>
          </a:xfrm>
          <a:prstGeom prst="ellipse">
            <a:avLst/>
          </a:prstGeom>
          <a:solidFill>
            <a:srgbClr val="C18A1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64114" y="2319451"/>
            <a:ext cx="603050" cy="64633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600" b="1" i="0">
                <a:solidFill>
                  <a:srgbClr val="C18A1E"/>
                </a:solidFill>
                <a:latin typeface="Calibr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2799" y="1444752"/>
            <a:ext cx="2065263" cy="2395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274320" rIns="118872" bIns="91440" rtlCol="0" anchor="ctr"/>
          <a:lstStyle/>
          <a:p>
            <a:pPr algn="ctr">
              <a:spcAft>
                <a:spcPts val="500"/>
              </a:spcAft>
            </a:pPr>
            <a:r>
              <a:rPr b="1" i="0">
                <a:solidFill>
                  <a:srgbClr val="103345"/>
                </a:solidFill>
                <a:latin typeface="Calibri"/>
              </a:rPr>
              <a:t>Stage 2
Their own network</a:t>
            </a:r>
          </a:p>
          <a:p>
            <a:pPr algn="l"/>
            <a:r>
              <a:rPr sz="1200" b="0" i="0">
                <a:solidFill>
                  <a:srgbClr val="3D4A52"/>
                </a:solidFill>
                <a:latin typeface="Calibri"/>
              </a:rPr>
              <a:t>An nnU-Net with a ResU-Net architecture and cross-entropy loss segments all six PDAC-related structures. Trained with 5-fold cross-validation.</a:t>
            </a:r>
          </a:p>
        </p:txBody>
      </p:sp>
      <p:sp>
        <p:nvSpPr>
          <p:cNvPr id="14" name="Oval 13"/>
          <p:cNvSpPr/>
          <p:nvPr/>
        </p:nvSpPr>
        <p:spPr>
          <a:xfrm>
            <a:off x="8270839" y="1280160"/>
            <a:ext cx="329184" cy="329184"/>
          </a:xfrm>
          <a:prstGeom prst="ellipse">
            <a:avLst/>
          </a:prstGeom>
          <a:solidFill>
            <a:srgbClr val="C18A1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03698" y="2319451"/>
            <a:ext cx="603050" cy="64633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600" b="1" i="0">
                <a:solidFill>
                  <a:srgbClr val="C18A1E"/>
                </a:solidFill>
                <a:latin typeface="Calibr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742383" y="1444752"/>
            <a:ext cx="2065263" cy="2395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274320" rIns="118872" bIns="91440" rtlCol="0" anchor="ctr"/>
          <a:lstStyle/>
          <a:p>
            <a:pPr algn="ctr">
              <a:spcAft>
                <a:spcPts val="500"/>
              </a:spcAft>
            </a:pPr>
            <a:r>
              <a:rPr b="1" i="0">
                <a:solidFill>
                  <a:srgbClr val="103345"/>
                </a:solidFill>
                <a:latin typeface="Calibri"/>
              </a:rPr>
              <a:t>Detection map &amp; score</a:t>
            </a:r>
          </a:p>
          <a:p>
            <a:pPr algn="l"/>
            <a:r>
              <a:rPr sz="1200" b="0" i="0">
                <a:solidFill>
                  <a:srgbClr val="3D4A52"/>
                </a:solidFill>
                <a:latin typeface="Calibri"/>
              </a:rPr>
              <a:t>Softmax maps of the 5 folds are averaged; Report-Guided-Annotation extracts lesion candidates; the patient score is the map's maximum.</a:t>
            </a:r>
          </a:p>
        </p:txBody>
      </p:sp>
      <p:sp>
        <p:nvSpPr>
          <p:cNvPr id="17" name="Oval 16"/>
          <p:cNvSpPr/>
          <p:nvPr/>
        </p:nvSpPr>
        <p:spPr>
          <a:xfrm>
            <a:off x="10610423" y="1280160"/>
            <a:ext cx="329184" cy="329184"/>
          </a:xfrm>
          <a:prstGeom prst="ellipse">
            <a:avLst/>
          </a:prstGeom>
          <a:solidFill>
            <a:srgbClr val="C18A1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4048" y="4206240"/>
            <a:ext cx="11420856" cy="2011680"/>
          </a:xfrm>
          <a:prstGeom prst="roundRect">
            <a:avLst>
              <a:gd name="adj" fmla="val 4000"/>
            </a:avLst>
          </a:prstGeom>
          <a:solidFill>
            <a:srgbClr val="FDF3DA"/>
          </a:solidFill>
          <a:ln w="12700">
            <a:solidFill>
              <a:srgbClr val="D6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18872" rIns="201168" rtlCol="0" anchor="ctr"/>
          <a:lstStyle/>
          <a:p>
            <a:pPr algn="ctr">
              <a:spcAft>
                <a:spcPts val="600"/>
              </a:spcAft>
            </a:pPr>
            <a:r>
              <a:rPr b="1" i="0">
                <a:solidFill>
                  <a:srgbClr val="C18A1E"/>
                </a:solidFill>
                <a:latin typeface="Calibri"/>
              </a:rPr>
              <a:t>What differs from the baseline — and the result</a:t>
            </a:r>
          </a:p>
          <a:p>
            <a:pPr>
              <a:spcAft>
                <a:spcPts val="400"/>
              </a:spcAft>
            </a:pPr>
            <a:r>
              <a:rPr sz="1400" b="1" i="0">
                <a:solidFill>
                  <a:srgbClr val="103345"/>
                </a:solidFill>
                <a:latin typeface="Calibri"/>
              </a:rPr>
              <a:t>▸ Architecture &amp; loss:  </a:t>
            </a:r>
            <a:r>
              <a:rPr sz="1400" b="0" i="0">
                <a:solidFill>
                  <a:srgbClr val="3D4A52"/>
                </a:solidFill>
                <a:latin typeface="Calibri"/>
              </a:rPr>
              <a:t>ResU-Net instead of the default U-Net, and cross-entropy only instead of Dice + CE — “to better fit the detection task”.</a:t>
            </a:r>
          </a:p>
          <a:p>
            <a:pPr>
              <a:spcAft>
                <a:spcPts val="400"/>
              </a:spcAft>
            </a:pPr>
            <a:r>
              <a:rPr sz="1400" b="1" i="0">
                <a:solidFill>
                  <a:srgbClr val="103345"/>
                </a:solidFill>
                <a:latin typeface="Calibri"/>
              </a:rPr>
              <a:t>▸ Fold ensembling:  </a:t>
            </a:r>
            <a:r>
              <a:rPr sz="1400" b="0" i="0">
                <a:solidFill>
                  <a:srgbClr val="3D4A52"/>
                </a:solidFill>
                <a:latin typeface="Calibri"/>
              </a:rPr>
              <a:t>the final segmentation averages the softmax probabilities of all 5 folds; folds were stratified by lesion size, age and sex (only to balance the splits, not as model input).</a:t>
            </a:r>
          </a:p>
          <a:p>
            <a:pPr>
              <a:spcAft>
                <a:spcPts val="400"/>
              </a:spcAft>
            </a:pPr>
            <a:r>
              <a:rPr sz="1400" b="1" i="0">
                <a:solidFill>
                  <a:srgbClr val="103345"/>
                </a:solidFill>
                <a:latin typeface="Calibri"/>
              </a:rPr>
              <a:t>▸ Result:  </a:t>
            </a:r>
            <a:r>
              <a:rPr sz="1400" b="0" i="0">
                <a:solidFill>
                  <a:srgbClr val="3D4A52"/>
                </a:solidFill>
                <a:latin typeface="Calibri"/>
              </a:rPr>
              <a:t>1st place — AUROC 0.916 and AP 0.720 on the sequestered testing cohort (n=1130).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" y="6382512"/>
            <a:ext cx="1072865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7A878E"/>
                </a:solidFill>
                <a:latin typeface="Calibri"/>
              </a:rPr>
              <a:t>Sources: suppl. appendix §S4.4 (Team DTI method paper) and the public repository github.com/han-liu/PDAC_Detection (main.py, Dataset103 + Dataset107); paper: Liu H, Gao R, Krieg E, Grbic S. “PanDx”, MICCAI Workshop on Applications of Medical AI, 2025 (arXiv 2503.10068).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608441" y="6382512"/>
            <a:ext cx="26321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3E9AAD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32688"/>
          </a:xfrm>
          <a:prstGeom prst="rect">
            <a:avLst/>
          </a:prstGeom>
          <a:solidFill>
            <a:srgbClr val="103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0" tIns="118872" rtlCol="0" anchor="ctr"/>
          <a:lstStyle/>
          <a:p>
            <a:pPr algn="ctr"/>
            <a:r>
              <a:rPr sz="2500" b="1" i="0">
                <a:solidFill>
                  <a:srgbClr val="FFFFFF"/>
                </a:solidFill>
                <a:latin typeface="Calibri"/>
              </a:rPr>
              <a:t>Extracting Embeddings from the Two Open Models</a:t>
            </a:r>
          </a:p>
          <a:p>
            <a:r>
              <a:rPr sz="1250" b="0" i="0">
                <a:solidFill>
                  <a:srgbClr val="C7DEE4"/>
                </a:solidFill>
                <a:latin typeface="Calibri"/>
              </a:rPr>
              <a:t>A vector of numbers describing each scan — possible only for PanDx and the PANORAMA baseline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2000" cy="50292"/>
          </a:xfrm>
          <a:prstGeom prst="rect">
            <a:avLst/>
          </a:prstGeom>
          <a:solidFill>
            <a:srgbClr val="3B5B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84048" y="1444752"/>
            <a:ext cx="2650159" cy="22128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274320" rIns="118872" bIns="91440" rtlCol="0" anchor="ctr"/>
          <a:lstStyle/>
          <a:p>
            <a:pPr algn="ctr">
              <a:spcAft>
                <a:spcPts val="500"/>
              </a:spcAft>
            </a:pPr>
            <a:r>
              <a:rPr b="1" i="0">
                <a:solidFill>
                  <a:srgbClr val="103345"/>
                </a:solidFill>
                <a:latin typeface="Calibri"/>
              </a:rPr>
              <a:t>Load the network</a:t>
            </a:r>
          </a:p>
          <a:p>
            <a:pPr algn="l"/>
            <a:r>
              <a:rPr sz="1200" b="0" i="0">
                <a:solidFill>
                  <a:srgbClr val="3D4A52"/>
                </a:solidFill>
                <a:latin typeface="Calibri"/>
              </a:rPr>
              <a:t>Both repos run inference as a command-line subprocess, which hands back only files. Load the model through nnU-Net's Python API instead: predictor.network exposes the real PyTorch module.</a:t>
            </a:r>
          </a:p>
        </p:txBody>
      </p:sp>
      <p:sp>
        <p:nvSpPr>
          <p:cNvPr id="5" name="Oval 4"/>
          <p:cNvSpPr/>
          <p:nvPr/>
        </p:nvSpPr>
        <p:spPr>
          <a:xfrm>
            <a:off x="1544535" y="1280160"/>
            <a:ext cx="329184" cy="329184"/>
          </a:xfrm>
          <a:prstGeom prst="ellipse">
            <a:avLst/>
          </a:prstGeom>
          <a:solidFill>
            <a:srgbClr val="3B5B92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69842" y="2228011"/>
            <a:ext cx="603050" cy="64633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600" b="1" i="0">
                <a:solidFill>
                  <a:srgbClr val="3B5B92"/>
                </a:solidFill>
                <a:latin typeface="Calibri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08527" y="1444752"/>
            <a:ext cx="2650159" cy="22128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274320" rIns="118872" bIns="91440" rtlCol="0" anchor="ctr"/>
          <a:lstStyle/>
          <a:p>
            <a:pPr algn="ctr">
              <a:spcAft>
                <a:spcPts val="500"/>
              </a:spcAft>
            </a:pPr>
            <a:r>
              <a:rPr b="1" i="0">
                <a:solidFill>
                  <a:srgbClr val="103345"/>
                </a:solidFill>
                <a:latin typeface="Calibri"/>
              </a:rPr>
              <a:t>Tap the encoder</a:t>
            </a:r>
          </a:p>
          <a:p>
            <a:pPr algn="l"/>
            <a:r>
              <a:rPr sz="1200" b="0" i="0">
                <a:solidFill>
                  <a:srgbClr val="3D4A52"/>
                </a:solidFill>
                <a:latin typeface="Calibri"/>
              </a:rPr>
              <a:t>The forward pass is skips = encoder(x) → decoder(skips). A forward hook on network.encoder captures the feature maps; the last one is the bottleneck — the most compressed, most informative layer.</a:t>
            </a:r>
          </a:p>
        </p:txBody>
      </p:sp>
      <p:sp>
        <p:nvSpPr>
          <p:cNvPr id="8" name="Oval 7"/>
          <p:cNvSpPr/>
          <p:nvPr/>
        </p:nvSpPr>
        <p:spPr>
          <a:xfrm>
            <a:off x="4469015" y="1280160"/>
            <a:ext cx="329184" cy="329184"/>
          </a:xfrm>
          <a:prstGeom prst="ellipse">
            <a:avLst/>
          </a:prstGeom>
          <a:solidFill>
            <a:srgbClr val="3B5B92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94322" y="2228011"/>
            <a:ext cx="603050" cy="64633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600" b="1" i="0">
                <a:solidFill>
                  <a:srgbClr val="3B5B92"/>
                </a:solidFill>
                <a:latin typeface="Calibr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1444752"/>
            <a:ext cx="2650159" cy="22128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274320" rIns="118872" bIns="91440" rtlCol="0" anchor="ctr"/>
          <a:lstStyle/>
          <a:p>
            <a:pPr algn="ctr">
              <a:spcAft>
                <a:spcPts val="500"/>
              </a:spcAft>
            </a:pPr>
            <a:r>
              <a:rPr b="1" i="0">
                <a:solidFill>
                  <a:srgbClr val="103345"/>
                </a:solidFill>
                <a:latin typeface="Calibri"/>
              </a:rPr>
              <a:t>Pool &amp; aggregate</a:t>
            </a:r>
          </a:p>
          <a:p>
            <a:pPr algn="l"/>
            <a:r>
              <a:rPr sz="1200" b="0" i="0">
                <a:solidFill>
                  <a:srgbClr val="3D4A52"/>
                </a:solidFill>
                <a:latin typeface="Calibri"/>
              </a:rPr>
              <a:t>The bottleneck is a 3D map, and nnU-Net predicts patch by patch (sliding window). Average-pool each patch, then aggregate across patches to obtain a single vector per exam.</a:t>
            </a:r>
          </a:p>
        </p:txBody>
      </p:sp>
      <p:sp>
        <p:nvSpPr>
          <p:cNvPr id="11" name="Oval 10"/>
          <p:cNvSpPr/>
          <p:nvPr/>
        </p:nvSpPr>
        <p:spPr>
          <a:xfrm>
            <a:off x="7393495" y="1280160"/>
            <a:ext cx="329184" cy="329184"/>
          </a:xfrm>
          <a:prstGeom prst="ellipse">
            <a:avLst/>
          </a:prstGeom>
          <a:solidFill>
            <a:srgbClr val="3B5B92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18802" y="2228011"/>
            <a:ext cx="603050" cy="64633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600" b="1" i="0">
                <a:solidFill>
                  <a:srgbClr val="3B5B92"/>
                </a:solidFill>
                <a:latin typeface="Calibr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57487" y="1444752"/>
            <a:ext cx="2650159" cy="22128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274320" rIns="118872" bIns="91440" rtlCol="0" anchor="ctr"/>
          <a:lstStyle/>
          <a:p>
            <a:pPr algn="ctr">
              <a:spcAft>
                <a:spcPts val="500"/>
              </a:spcAft>
            </a:pPr>
            <a:r>
              <a:rPr b="1" i="0">
                <a:solidFill>
                  <a:srgbClr val="103345"/>
                </a:solidFill>
                <a:latin typeface="Calibri"/>
              </a:rPr>
              <a:t>Your embedding</a:t>
            </a:r>
          </a:p>
          <a:p>
            <a:pPr algn="l"/>
            <a:r>
              <a:rPr sz="1200" b="0" i="0">
                <a:solidFill>
                  <a:srgbClr val="3D4A52"/>
                </a:solidFill>
                <a:latin typeface="Calibri"/>
              </a:rPr>
              <a:t>320 numbers per scan. Deterministic — the same CT always gives the same vector — and it costs exactly one ordinary inference run. Roughly 100 lines of wrapper code.</a:t>
            </a:r>
          </a:p>
        </p:txBody>
      </p:sp>
      <p:sp>
        <p:nvSpPr>
          <p:cNvPr id="14" name="Oval 13"/>
          <p:cNvSpPr/>
          <p:nvPr/>
        </p:nvSpPr>
        <p:spPr>
          <a:xfrm>
            <a:off x="10317975" y="1280160"/>
            <a:ext cx="329184" cy="329184"/>
          </a:xfrm>
          <a:prstGeom prst="ellipse">
            <a:avLst/>
          </a:prstGeom>
          <a:solidFill>
            <a:srgbClr val="3B5B92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" y="3874221"/>
            <a:ext cx="11423598" cy="2212848"/>
          </a:xfrm>
          <a:prstGeom prst="roundRect">
            <a:avLst>
              <a:gd name="adj" fmla="val 4500"/>
            </a:avLst>
          </a:prstGeom>
          <a:solidFill>
            <a:srgbClr val="ECF0F8"/>
          </a:solidFill>
          <a:ln w="12700">
            <a:solidFill>
              <a:srgbClr val="D6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18872" rIns="182880" rtlCol="0" anchor="ctr"/>
          <a:lstStyle/>
          <a:p>
            <a:pPr algn="ctr">
              <a:spcAft>
                <a:spcPts val="600"/>
              </a:spcAft>
            </a:pPr>
            <a:r>
              <a:rPr sz="2000" b="1" i="0">
                <a:solidFill>
                  <a:srgbClr val="3B5B92"/>
                </a:solidFill>
                <a:latin typeface="Calibri"/>
              </a:rPr>
              <a:t>The 320-feature problem</a:t>
            </a:r>
          </a:p>
          <a:p>
            <a:pPr>
              <a:spcAft>
                <a:spcPts val="400"/>
              </a:spcAft>
            </a:pPr>
            <a:r>
              <a:rPr sz="1400" b="1" i="0">
                <a:solidFill>
                  <a:srgbClr val="103345"/>
                </a:solidFill>
                <a:latin typeface="Calibri"/>
              </a:rPr>
              <a:t>▸ Too many features, too few patients:  </a:t>
            </a:r>
            <a:r>
              <a:rPr sz="1400" b="0" i="0">
                <a:solidFill>
                  <a:srgbClr val="3D4A52"/>
                </a:solidFill>
                <a:latin typeface="Calibri"/>
              </a:rPr>
              <a:t>320 numbers against a few hundred cases invites overfitting — the classifier memorises noise instead of signal.</a:t>
            </a:r>
          </a:p>
          <a:p>
            <a:pPr>
              <a:spcAft>
                <a:spcPts val="400"/>
              </a:spcAft>
            </a:pPr>
            <a:r>
              <a:rPr sz="1400" b="1" i="0">
                <a:solidFill>
                  <a:srgbClr val="103345"/>
                </a:solidFill>
                <a:latin typeface="Calibri"/>
              </a:rPr>
              <a:t>▸ Fixes:  </a:t>
            </a:r>
            <a:r>
              <a:rPr sz="1400" b="0" i="0">
                <a:solidFill>
                  <a:srgbClr val="3D4A52"/>
                </a:solidFill>
                <a:latin typeface="Calibri"/>
              </a:rPr>
              <a:t>reduce with PCA to a handful of components, or apply strong L1/L2 regularisation, or select features.</a:t>
            </a:r>
          </a:p>
          <a:p>
            <a:pPr>
              <a:spcAft>
                <a:spcPts val="400"/>
              </a:spcAft>
            </a:pPr>
            <a:r>
              <a:rPr sz="1400" b="1" i="0">
                <a:solidFill>
                  <a:srgbClr val="103345"/>
                </a:solidFill>
                <a:latin typeface="Calibri"/>
              </a:rPr>
              <a:t>▸ Non-negotiable:  </a:t>
            </a:r>
            <a:r>
              <a:rPr sz="1400" b="0" i="0">
                <a:solidFill>
                  <a:srgbClr val="3D4A52"/>
                </a:solidFill>
                <a:latin typeface="Calibri"/>
              </a:rPr>
              <a:t>fit PCA/selection inside the training folds only. Fitting on the full dataset leaks information and inflates the result.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6254496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 dirty="0">
                <a:solidFill>
                  <a:srgbClr val="7A878E"/>
                </a:solidFill>
                <a:latin typeface="Calibri"/>
              </a:rPr>
              <a:t>Only these two models expose weights — the other three are inference-only containers. Use the stage-2 detector (Dataset104 baseline / Dataset107 PanDx). The vector describes the cropped pancreas ROI, not the whole CT. Bottleneck width verified in plans.json; hook point in the nnU-Net v2 source.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83098" y="6382512"/>
            <a:ext cx="28886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 b="1" i="0">
                <a:solidFill>
                  <a:srgbClr val="3E9AAD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32688"/>
          </a:xfrm>
          <a:prstGeom prst="rect">
            <a:avLst/>
          </a:prstGeom>
          <a:solidFill>
            <a:srgbClr val="103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0" tIns="118872" rtlCol="0" anchor="ctr"/>
          <a:lstStyle/>
          <a:p>
            <a:pPr algn="ctr"/>
            <a:r>
              <a:rPr sz="2500" b="1" i="0">
                <a:solidFill>
                  <a:srgbClr val="FFFFFF"/>
                </a:solidFill>
                <a:latin typeface="Calibri"/>
              </a:rPr>
              <a:t>The Building Blocks — from CNN to U-Net</a:t>
            </a:r>
          </a:p>
          <a:p>
            <a:r>
              <a:rPr sz="1250" b="0" i="0">
                <a:solidFill>
                  <a:srgbClr val="C7DEE4"/>
                </a:solidFill>
                <a:latin typeface="Calibri"/>
              </a:rPr>
              <a:t>How these networks actually look at a CT scan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2000" cy="50292"/>
          </a:xfrm>
          <a:prstGeom prst="rect">
            <a:avLst/>
          </a:prstGeom>
          <a:solidFill>
            <a:srgbClr val="126E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4" name="Rounded Rectangle 3"/>
          <p:cNvSpPr/>
          <p:nvPr/>
        </p:nvSpPr>
        <p:spPr>
          <a:xfrm>
            <a:off x="384048" y="1325880"/>
            <a:ext cx="3611880" cy="2052826"/>
          </a:xfrm>
          <a:prstGeom prst="roundRect">
            <a:avLst>
              <a:gd name="adj" fmla="val 4500"/>
            </a:avLst>
          </a:prstGeom>
          <a:solidFill>
            <a:srgbClr val="ECF5F7"/>
          </a:solidFill>
          <a:ln w="12700">
            <a:solidFill>
              <a:srgbClr val="D6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82880" rtlCol="0" anchor="ctr"/>
          <a:lstStyle/>
          <a:p>
            <a:pPr algn="ctr">
              <a:spcAft>
                <a:spcPts val="600"/>
              </a:spcAft>
            </a:pPr>
            <a:r>
              <a:rPr sz="2000" b="1" i="0" dirty="0">
                <a:solidFill>
                  <a:srgbClr val="126E82"/>
                </a:solidFill>
                <a:latin typeface="Calibri"/>
              </a:rPr>
              <a:t>A CNN learns filters</a:t>
            </a:r>
          </a:p>
          <a:p>
            <a:pPr>
              <a:spcAft>
                <a:spcPts val="500"/>
              </a:spcAft>
            </a:pPr>
            <a:r>
              <a:rPr sz="1400" b="0" i="0" dirty="0">
                <a:solidFill>
                  <a:srgbClr val="3D4A52"/>
                </a:solidFill>
                <a:latin typeface="Calibri"/>
              </a:rPr>
              <a:t>Small filters slide over the image and produce feature maps. Early layers pick up edges and blobs; deeper layers combine them into shapes — the outline of an organ, the texture of a </a:t>
            </a:r>
            <a:r>
              <a:rPr sz="1400" b="0" i="0" dirty="0" err="1">
                <a:solidFill>
                  <a:srgbClr val="3D4A52"/>
                </a:solidFill>
                <a:latin typeface="Calibri"/>
              </a:rPr>
              <a:t>tumour</a:t>
            </a:r>
            <a:r>
              <a:rPr sz="1400" b="0" i="0" dirty="0">
                <a:solidFill>
                  <a:srgbClr val="3D4A52"/>
                </a:solidFill>
                <a:latin typeface="Calibri"/>
              </a:rPr>
              <a:t>.</a:t>
            </a:r>
          </a:p>
          <a:p>
            <a:pPr>
              <a:spcAft>
                <a:spcPts val="500"/>
              </a:spcAft>
            </a:pPr>
            <a:r>
              <a:rPr sz="1400" b="0" i="0" dirty="0">
                <a:solidFill>
                  <a:srgbClr val="3D4A52"/>
                </a:solidFill>
                <a:latin typeface="Calibri"/>
              </a:rPr>
              <a:t>“CNN” names the family, not one specific model.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490821"/>
            <a:ext cx="3611880" cy="2331720"/>
          </a:xfrm>
          <a:prstGeom prst="roundRect">
            <a:avLst>
              <a:gd name="adj" fmla="val 4500"/>
            </a:avLst>
          </a:prstGeom>
          <a:solidFill>
            <a:srgbClr val="ECF0F8"/>
          </a:solidFill>
          <a:ln w="12700">
            <a:solidFill>
              <a:srgbClr val="D6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82880" rtlCol="0" anchor="ctr"/>
          <a:lstStyle/>
          <a:p>
            <a:pPr algn="ctr">
              <a:spcAft>
                <a:spcPts val="600"/>
              </a:spcAft>
            </a:pPr>
            <a:r>
              <a:rPr sz="2000" b="1" i="0">
                <a:solidFill>
                  <a:srgbClr val="3B5B92"/>
                </a:solidFill>
                <a:latin typeface="Calibri"/>
              </a:rPr>
              <a:t>Why the shape is a “U”</a:t>
            </a:r>
          </a:p>
          <a:p>
            <a:pPr>
              <a:spcAft>
                <a:spcPts val="500"/>
              </a:spcAft>
            </a:pPr>
            <a:r>
              <a:rPr sz="1400" b="0" i="0">
                <a:solidFill>
                  <a:srgbClr val="3D4A52"/>
                </a:solidFill>
                <a:latin typeface="Calibri"/>
              </a:rPr>
              <a:t>A classifier only answers “what is in this image”, so it keeps compressing down to one label.</a:t>
            </a:r>
          </a:p>
          <a:p>
            <a:pPr>
              <a:spcAft>
                <a:spcPts val="500"/>
              </a:spcAft>
            </a:pPr>
            <a:r>
              <a:rPr sz="1400" b="0" i="0">
                <a:solidFill>
                  <a:srgbClr val="3D4A52"/>
                </a:solidFill>
                <a:latin typeface="Calibri"/>
              </a:rPr>
              <a:t>Segmentation must answer “what is THIS voxel” — so after compressing, the network has to climb back up to full resolution.</a:t>
            </a:r>
          </a:p>
          <a:p>
            <a:pPr>
              <a:spcAft>
                <a:spcPts val="500"/>
              </a:spcAft>
            </a:pPr>
            <a:r>
              <a:rPr sz="1400" b="0" i="0">
                <a:solidFill>
                  <a:srgbClr val="3D4A52"/>
                </a:solidFill>
                <a:latin typeface="Calibri"/>
              </a:rPr>
              <a:t>Compress + climb back = the letter 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83480" y="1325880"/>
            <a:ext cx="19202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03345"/>
                </a:solidFill>
                <a:latin typeface="Calibri"/>
              </a:rPr>
              <a:t>CT patch 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6840" y="1325880"/>
            <a:ext cx="19202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03345"/>
                </a:solidFill>
                <a:latin typeface="Calibri"/>
              </a:rPr>
              <a:t>segmentation out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57800" y="1691640"/>
            <a:ext cx="1371600" cy="502920"/>
          </a:xfrm>
          <a:prstGeom prst="roundRect">
            <a:avLst>
              <a:gd name="adj" fmla="val 15000"/>
            </a:avLst>
          </a:prstGeom>
          <a:solidFill>
            <a:srgbClr val="ECF5F7"/>
          </a:solidFill>
          <a:ln w="15875">
            <a:solidFill>
              <a:srgbClr val="126E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 i="0">
                <a:solidFill>
                  <a:srgbClr val="126E82"/>
                </a:solidFill>
                <a:latin typeface="Calibri"/>
              </a:rPr>
              <a:t>32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281160" y="1691640"/>
            <a:ext cx="1371600" cy="502920"/>
          </a:xfrm>
          <a:prstGeom prst="roundRect">
            <a:avLst>
              <a:gd name="adj" fmla="val 15000"/>
            </a:avLst>
          </a:prstGeom>
          <a:solidFill>
            <a:srgbClr val="ECF0F8"/>
          </a:solidFill>
          <a:ln w="15875">
            <a:solidFill>
              <a:srgbClr val="3B5B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 i="0">
                <a:solidFill>
                  <a:srgbClr val="3B5B92"/>
                </a:solidFill>
                <a:latin typeface="Calibri"/>
              </a:rPr>
              <a:t>128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739128" y="1874519"/>
            <a:ext cx="2432304" cy="137160"/>
          </a:xfrm>
          <a:prstGeom prst="rightArrow">
            <a:avLst/>
          </a:prstGeom>
          <a:solidFill>
            <a:srgbClr val="A8B6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1" name="Down Arrow 10"/>
          <p:cNvSpPr/>
          <p:nvPr/>
        </p:nvSpPr>
        <p:spPr>
          <a:xfrm>
            <a:off x="5861304" y="2221992"/>
            <a:ext cx="164592" cy="246888"/>
          </a:xfrm>
          <a:prstGeom prst="downArrow">
            <a:avLst/>
          </a:prstGeom>
          <a:solidFill>
            <a:srgbClr val="3E9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2" name="Up Arrow 11"/>
          <p:cNvSpPr/>
          <p:nvPr/>
        </p:nvSpPr>
        <p:spPr>
          <a:xfrm>
            <a:off x="9884664" y="2221992"/>
            <a:ext cx="164592" cy="246888"/>
          </a:xfrm>
          <a:prstGeom prst="upArrow">
            <a:avLst/>
          </a:prstGeom>
          <a:solidFill>
            <a:srgbClr val="3B5B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3" name="Rounded Rectangle 12"/>
          <p:cNvSpPr/>
          <p:nvPr/>
        </p:nvSpPr>
        <p:spPr>
          <a:xfrm>
            <a:off x="5257800" y="2468880"/>
            <a:ext cx="1371600" cy="502920"/>
          </a:xfrm>
          <a:prstGeom prst="roundRect">
            <a:avLst>
              <a:gd name="adj" fmla="val 15000"/>
            </a:avLst>
          </a:prstGeom>
          <a:solidFill>
            <a:srgbClr val="ECF5F7"/>
          </a:solidFill>
          <a:ln w="15875">
            <a:solidFill>
              <a:srgbClr val="126E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 i="0">
                <a:solidFill>
                  <a:srgbClr val="126E82"/>
                </a:solidFill>
                <a:latin typeface="Calibri"/>
              </a:rPr>
              <a:t>64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81160" y="2468880"/>
            <a:ext cx="1371600" cy="502920"/>
          </a:xfrm>
          <a:prstGeom prst="roundRect">
            <a:avLst>
              <a:gd name="adj" fmla="val 15000"/>
            </a:avLst>
          </a:prstGeom>
          <a:solidFill>
            <a:srgbClr val="ECF0F8"/>
          </a:solidFill>
          <a:ln w="15875">
            <a:solidFill>
              <a:srgbClr val="3B5B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 i="0">
                <a:solidFill>
                  <a:srgbClr val="3B5B92"/>
                </a:solidFill>
                <a:latin typeface="Calibri"/>
              </a:rPr>
              <a:t>64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739128" y="2651760"/>
            <a:ext cx="2432304" cy="137160"/>
          </a:xfrm>
          <a:prstGeom prst="rightArrow">
            <a:avLst/>
          </a:prstGeom>
          <a:solidFill>
            <a:srgbClr val="A8B6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6" name="Down Arrow 15"/>
          <p:cNvSpPr/>
          <p:nvPr/>
        </p:nvSpPr>
        <p:spPr>
          <a:xfrm>
            <a:off x="5861304" y="2999232"/>
            <a:ext cx="164592" cy="246888"/>
          </a:xfrm>
          <a:prstGeom prst="downArrow">
            <a:avLst/>
          </a:prstGeom>
          <a:solidFill>
            <a:srgbClr val="3E9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7" name="Up Arrow 16"/>
          <p:cNvSpPr/>
          <p:nvPr/>
        </p:nvSpPr>
        <p:spPr>
          <a:xfrm>
            <a:off x="9884664" y="2999232"/>
            <a:ext cx="164592" cy="246888"/>
          </a:xfrm>
          <a:prstGeom prst="upArrow">
            <a:avLst/>
          </a:prstGeom>
          <a:solidFill>
            <a:srgbClr val="3B5B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8" name="Rounded Rectangle 17"/>
          <p:cNvSpPr/>
          <p:nvPr/>
        </p:nvSpPr>
        <p:spPr>
          <a:xfrm>
            <a:off x="5257800" y="3246120"/>
            <a:ext cx="1371600" cy="502920"/>
          </a:xfrm>
          <a:prstGeom prst="roundRect">
            <a:avLst>
              <a:gd name="adj" fmla="val 15000"/>
            </a:avLst>
          </a:prstGeom>
          <a:solidFill>
            <a:srgbClr val="ECF5F7"/>
          </a:solidFill>
          <a:ln w="15875">
            <a:solidFill>
              <a:srgbClr val="126E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 i="0">
                <a:solidFill>
                  <a:srgbClr val="126E82"/>
                </a:solidFill>
                <a:latin typeface="Calibri"/>
              </a:rPr>
              <a:t>128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81160" y="3246120"/>
            <a:ext cx="1371600" cy="502920"/>
          </a:xfrm>
          <a:prstGeom prst="roundRect">
            <a:avLst>
              <a:gd name="adj" fmla="val 15000"/>
            </a:avLst>
          </a:prstGeom>
          <a:solidFill>
            <a:srgbClr val="ECF0F8"/>
          </a:solidFill>
          <a:ln w="15875">
            <a:solidFill>
              <a:srgbClr val="3B5B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 i="0">
                <a:solidFill>
                  <a:srgbClr val="3B5B92"/>
                </a:solidFill>
                <a:latin typeface="Calibri"/>
              </a:rPr>
              <a:t>32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6739128" y="3428999"/>
            <a:ext cx="2432304" cy="137160"/>
          </a:xfrm>
          <a:prstGeom prst="rightArrow">
            <a:avLst/>
          </a:prstGeom>
          <a:solidFill>
            <a:srgbClr val="A8B6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1" name="TextBox 20"/>
          <p:cNvSpPr txBox="1"/>
          <p:nvPr/>
        </p:nvSpPr>
        <p:spPr>
          <a:xfrm>
            <a:off x="6720840" y="1632204"/>
            <a:ext cx="24688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7A878E"/>
                </a:solidFill>
                <a:latin typeface="Calibri"/>
              </a:rPr>
              <a:t>skip connections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03720" y="4160520"/>
            <a:ext cx="2103120" cy="566928"/>
          </a:xfrm>
          <a:prstGeom prst="roundRect">
            <a:avLst>
              <a:gd name="adj" fmla="val 15000"/>
            </a:avLst>
          </a:prstGeom>
          <a:solidFill>
            <a:srgbClr val="103345"/>
          </a:solidFill>
          <a:ln w="15875">
            <a:solidFill>
              <a:srgbClr val="1033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320   bottleneck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943600" y="3749039"/>
            <a:ext cx="1234440" cy="411481"/>
          </a:xfrm>
          <a:prstGeom prst="line">
            <a:avLst/>
          </a:prstGeom>
          <a:ln w="22225">
            <a:solidFill>
              <a:srgbClr val="3E9A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8732519" y="3749039"/>
            <a:ext cx="1234441" cy="411481"/>
          </a:xfrm>
          <a:prstGeom prst="line">
            <a:avLst/>
          </a:prstGeom>
          <a:ln w="22225">
            <a:solidFill>
              <a:srgbClr val="3B5B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120640" y="4828032"/>
            <a:ext cx="60350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103345"/>
                </a:solidFill>
                <a:latin typeface="Calibri"/>
              </a:rPr>
              <a:t>the most compressed layer — this is where embeddings are tapped (slide 6)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5285232"/>
            <a:ext cx="75895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26E82"/>
                </a:solidFill>
                <a:latin typeface="Calibri"/>
              </a:rPr>
              <a:t>Going down: </a:t>
            </a:r>
            <a:r>
              <a:rPr sz="1600" b="0" i="0">
                <a:solidFill>
                  <a:srgbClr val="3D4A52"/>
                </a:solidFill>
                <a:latin typeface="Calibri"/>
              </a:rPr>
              <a:t>understand WHAT is there.   </a:t>
            </a:r>
            <a:r>
              <a:rPr sz="1600" b="1" i="0">
                <a:solidFill>
                  <a:srgbClr val="3B5B92"/>
                </a:solidFill>
                <a:latin typeface="Calibri"/>
              </a:rPr>
              <a:t>Coming up: </a:t>
            </a:r>
            <a:r>
              <a:rPr sz="1600" b="0" i="0">
                <a:solidFill>
                  <a:srgbClr val="3D4A52"/>
                </a:solidFill>
                <a:latin typeface="Calibri"/>
              </a:rPr>
              <a:t>recover WHERE it is.</a:t>
            </a:r>
          </a:p>
          <a:p>
            <a:pPr algn="ctr"/>
            <a:r>
              <a:rPr sz="1600" b="0" i="0">
                <a:solidFill>
                  <a:srgbClr val="3D4A52"/>
                </a:solidFill>
                <a:latin typeface="Calibri"/>
              </a:rPr>
              <a:t>The skips hand the fine detail straight across, so the borders stay sharp.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" y="6345936"/>
            <a:ext cx="107289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7A878E"/>
                </a:solidFill>
                <a:latin typeface="Calibri"/>
              </a:rPr>
              <a:t>Channel widths are the real ones from the PANORAMA baseline detector (plans.json — features_per_stage: 32, 64, 128, 256, 320, 320; six levels, simplified to three here for clarity).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583099" y="6382512"/>
            <a:ext cx="28886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 b="1" i="0">
                <a:solidFill>
                  <a:srgbClr val="3E9AAD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32688"/>
          </a:xfrm>
          <a:prstGeom prst="rect">
            <a:avLst/>
          </a:prstGeom>
          <a:solidFill>
            <a:srgbClr val="103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0" tIns="118872" rtlCol="0" anchor="ctr"/>
          <a:lstStyle/>
          <a:p>
            <a:pPr algn="ctr"/>
            <a:r>
              <a:rPr sz="2500" b="1" i="0">
                <a:solidFill>
                  <a:srgbClr val="FFFFFF"/>
                </a:solidFill>
                <a:latin typeface="Calibri"/>
              </a:rPr>
              <a:t>nnU-Net &amp; ResU-Net — decoding the labels</a:t>
            </a:r>
          </a:p>
          <a:p>
            <a:r>
              <a:rPr sz="1250" b="0" i="0">
                <a:solidFill>
                  <a:srgbClr val="C7DEE4"/>
                </a:solidFill>
                <a:latin typeface="Calibri"/>
              </a:rPr>
              <a:t>One of them is not a network at all; the other is a small twist on the U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2000" cy="50292"/>
          </a:xfrm>
          <a:prstGeom prst="rect">
            <a:avLst/>
          </a:prstGeom>
          <a:solidFill>
            <a:srgbClr val="C1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4" name="Rounded Rectangle 3"/>
          <p:cNvSpPr/>
          <p:nvPr/>
        </p:nvSpPr>
        <p:spPr>
          <a:xfrm>
            <a:off x="384048" y="1325880"/>
            <a:ext cx="5806440" cy="3063240"/>
          </a:xfrm>
          <a:prstGeom prst="roundRect">
            <a:avLst>
              <a:gd name="adj" fmla="val 4500"/>
            </a:avLst>
          </a:prstGeom>
          <a:solidFill>
            <a:srgbClr val="FDF3DA"/>
          </a:solidFill>
          <a:ln w="12700">
            <a:solidFill>
              <a:srgbClr val="D6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82880" rtlCol="0" anchor="ctr"/>
          <a:lstStyle/>
          <a:p>
            <a:pPr algn="ctr">
              <a:spcAft>
                <a:spcPts val="600"/>
              </a:spcAft>
            </a:pPr>
            <a:r>
              <a:rPr sz="2400" b="1" i="0">
                <a:solidFill>
                  <a:srgbClr val="C18A1E"/>
                </a:solidFill>
                <a:latin typeface="Calibri"/>
              </a:rPr>
              <a:t>nnU-Net — the chef, not the ingredient</a:t>
            </a:r>
          </a:p>
          <a:p>
            <a:pPr>
              <a:spcAft>
                <a:spcPts val="500"/>
              </a:spcAft>
            </a:pPr>
            <a:r>
              <a:rPr sz="1600" b="1" i="0">
                <a:solidFill>
                  <a:srgbClr val="103345"/>
                </a:solidFill>
                <a:latin typeface="Calibri"/>
              </a:rPr>
              <a:t>The name is a pun:  </a:t>
            </a:r>
            <a:r>
              <a:rPr sz="1600" b="0" i="0">
                <a:solidFill>
                  <a:srgbClr val="3D4A52"/>
                </a:solidFill>
                <a:latin typeface="Calibri"/>
              </a:rPr>
              <a:t>“no-new-Net”. It is not an architecture — it is a self-configuring pipeline.</a:t>
            </a:r>
          </a:p>
          <a:p>
            <a:pPr>
              <a:spcAft>
                <a:spcPts val="500"/>
              </a:spcAft>
            </a:pPr>
            <a:r>
              <a:rPr sz="1600" b="0" i="0">
                <a:solidFill>
                  <a:srgbClr val="3D4A52"/>
                </a:solidFill>
                <a:latin typeface="Calibri"/>
              </a:rPr>
              <a:t>You hand it a dataset; it measures image sizes, voxel spacing and number of classes, then decides everything by itself: patch and batch size · network depth and channel widths · resampling and normalisation · augmentation · loss and learning rate · 5-fold cross-validation · sliding-window inference.</a:t>
            </a:r>
          </a:p>
          <a:p>
            <a:pPr>
              <a:spcAft>
                <a:spcPts val="500"/>
              </a:spcAft>
            </a:pPr>
            <a:r>
              <a:rPr sz="1600" b="1" i="0">
                <a:solidFill>
                  <a:srgbClr val="103345"/>
                </a:solidFill>
                <a:latin typeface="Calibri"/>
              </a:rPr>
              <a:t>That is the real advantage:  </a:t>
            </a:r>
            <a:r>
              <a:rPr sz="1600" b="0" i="0">
                <a:solidFill>
                  <a:srgbClr val="3D4A52"/>
                </a:solidFill>
                <a:latin typeface="Calibri"/>
              </a:rPr>
              <a:t>it tops benchmarks by getting every setting right, not by using an exotic architecture.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10528" y="1325880"/>
            <a:ext cx="5303520" cy="1874519"/>
          </a:xfrm>
          <a:prstGeom prst="roundRect">
            <a:avLst>
              <a:gd name="adj" fmla="val 4500"/>
            </a:avLst>
          </a:prstGeom>
          <a:solidFill>
            <a:srgbClr val="ECF5F7"/>
          </a:solidFill>
          <a:ln w="12700">
            <a:solidFill>
              <a:srgbClr val="D6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82880" rtlCol="0" anchor="ctr"/>
          <a:lstStyle/>
          <a:p>
            <a:pPr algn="ctr">
              <a:spcAft>
                <a:spcPts val="600"/>
              </a:spcAft>
            </a:pPr>
            <a:r>
              <a:rPr sz="2400" b="1" i="0">
                <a:solidFill>
                  <a:srgbClr val="126E82"/>
                </a:solidFill>
                <a:latin typeface="Calibri"/>
              </a:rPr>
              <a:t>ResU-Net — a U-Net with shortcuts</a:t>
            </a:r>
          </a:p>
          <a:p>
            <a:pPr>
              <a:spcAft>
                <a:spcPts val="500"/>
              </a:spcAft>
            </a:pPr>
            <a:r>
              <a:rPr sz="1600" b="0" i="0">
                <a:solidFill>
                  <a:srgbClr val="3D4A52"/>
                </a:solidFill>
                <a:latin typeface="Calibri"/>
              </a:rPr>
              <a:t>The same U, but every block also passes its input straight to its output, where the two are added.</a:t>
            </a:r>
          </a:p>
          <a:p>
            <a:pPr>
              <a:spcAft>
                <a:spcPts val="500"/>
              </a:spcAft>
            </a:pPr>
            <a:r>
              <a:rPr sz="1600" b="0" i="0">
                <a:solidFill>
                  <a:srgbClr val="3D4A52"/>
                </a:solidFill>
                <a:latin typeface="Calibri"/>
              </a:rPr>
              <a:t>So a block no longer has to learn the whole answer — only the correction to add. Easier to train, and deeper networks stop degrading. Same idea as ResNet.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60920" y="3933467"/>
            <a:ext cx="2240280" cy="5029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126E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126E82"/>
                </a:solidFill>
                <a:latin typeface="Calibri"/>
              </a:rPr>
              <a:t>conv → conv</a:t>
            </a:r>
          </a:p>
        </p:txBody>
      </p:sp>
      <p:sp>
        <p:nvSpPr>
          <p:cNvPr id="7" name="Oval 6"/>
          <p:cNvSpPr/>
          <p:nvPr/>
        </p:nvSpPr>
        <p:spPr>
          <a:xfrm>
            <a:off x="9921240" y="3988331"/>
            <a:ext cx="393192" cy="393192"/>
          </a:xfrm>
          <a:prstGeom prst="ellipse">
            <a:avLst/>
          </a:prstGeom>
          <a:solidFill>
            <a:srgbClr val="126E82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793992" y="4116348"/>
            <a:ext cx="457200" cy="137160"/>
          </a:xfrm>
          <a:prstGeom prst="rightArrow">
            <a:avLst/>
          </a:prstGeom>
          <a:solidFill>
            <a:srgbClr val="A8B6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9" name="Right Arrow 8"/>
          <p:cNvSpPr/>
          <p:nvPr/>
        </p:nvSpPr>
        <p:spPr>
          <a:xfrm>
            <a:off x="9628632" y="4116348"/>
            <a:ext cx="256032" cy="137160"/>
          </a:xfrm>
          <a:prstGeom prst="rightArrow">
            <a:avLst/>
          </a:prstGeom>
          <a:solidFill>
            <a:srgbClr val="A8B6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0" name="Right Arrow 9"/>
          <p:cNvSpPr/>
          <p:nvPr/>
        </p:nvSpPr>
        <p:spPr>
          <a:xfrm>
            <a:off x="10378440" y="4116348"/>
            <a:ext cx="457200" cy="137160"/>
          </a:xfrm>
          <a:prstGeom prst="rightArrow">
            <a:avLst/>
          </a:prstGeom>
          <a:solidFill>
            <a:srgbClr val="A8B6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cxnSp>
        <p:nvCxnSpPr>
          <p:cNvPr id="11" name="Connector 10"/>
          <p:cNvCxnSpPr/>
          <p:nvPr/>
        </p:nvCxnSpPr>
        <p:spPr>
          <a:xfrm flipV="1">
            <a:off x="7086600" y="3549419"/>
            <a:ext cx="0" cy="635509"/>
          </a:xfrm>
          <a:prstGeom prst="line">
            <a:avLst/>
          </a:prstGeom>
          <a:ln w="25400">
            <a:solidFill>
              <a:srgbClr val="C18A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086600" y="3549419"/>
            <a:ext cx="3031236" cy="0"/>
          </a:xfrm>
          <a:prstGeom prst="line">
            <a:avLst/>
          </a:prstGeom>
          <a:ln w="25400">
            <a:solidFill>
              <a:srgbClr val="C18A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117836" y="3549419"/>
            <a:ext cx="0" cy="438912"/>
          </a:xfrm>
          <a:prstGeom prst="line">
            <a:avLst/>
          </a:prstGeom>
          <a:ln w="25400">
            <a:solidFill>
              <a:srgbClr val="C18A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269480" y="3220236"/>
            <a:ext cx="31546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18A1E"/>
                </a:solidFill>
                <a:latin typeface="Calibri"/>
              </a:rPr>
              <a:t>the shortcut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4038624"/>
            <a:ext cx="685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7A878E"/>
                </a:solidFill>
                <a:latin typeface="Calibri"/>
              </a:rPr>
              <a:t>input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63072" y="4038624"/>
            <a:ext cx="7315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A878E"/>
                </a:solidFill>
                <a:latin typeface="Calibri"/>
              </a:rPr>
              <a:t>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4474377"/>
            <a:ext cx="5486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103345"/>
                </a:solidFill>
                <a:latin typeface="Calibri"/>
              </a:rPr>
              <a:t>What the labels on slide 1 actually mean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8990538"/>
              </p:ext>
            </p:extLst>
          </p:nvPr>
        </p:nvGraphicFramePr>
        <p:xfrm>
          <a:off x="384048" y="4956048"/>
          <a:ext cx="11420856" cy="12740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94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60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Label</a:t>
                      </a:r>
                    </a:p>
                  </a:txBody>
                  <a:tcPr marL="64008" marR="64008" anchor="ctr">
                    <a:solidFill>
                      <a:srgbClr val="126E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What it actually means</a:t>
                      </a:r>
                    </a:p>
                  </a:txBody>
                  <a:tcPr marL="64008" marR="64008" anchor="ctr">
                    <a:solidFill>
                      <a:srgbClr val="126E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222B30"/>
                          </a:solidFill>
                          <a:latin typeface="Calibri"/>
                        </a:rPr>
                        <a:t>CNN · nnU-Net v2 (2-stage)
PANORAMA baseline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22B30"/>
                          </a:solidFill>
                          <a:latin typeface="Calibri"/>
                        </a:rPr>
                        <a:t>CNN family · configured by nnU-Net v2 · architecture = standard U-Net (PlainConvUNet) · two networks chained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222B30"/>
                          </a:solidFill>
                          <a:latin typeface="Calibri"/>
                        </a:rPr>
                        <a:t>CNN · nnU-Net + ResU-Net (2-stage)
H. Liu — PanDx</a:t>
                      </a:r>
                    </a:p>
                  </a:txBody>
                  <a:tcPr marL="64008" marR="64008" marT="18288" marB="18288" anchor="ctr"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 dirty="0">
                          <a:solidFill>
                            <a:srgbClr val="222B30"/>
                          </a:solidFill>
                          <a:latin typeface="Calibri"/>
                        </a:rPr>
                        <a:t>Identical, except stage 2 swaps the default U-Net for a </a:t>
                      </a:r>
                      <a:r>
                        <a:rPr sz="1400" b="0" i="0" dirty="0" err="1">
                          <a:solidFill>
                            <a:srgbClr val="222B30"/>
                          </a:solidFill>
                          <a:latin typeface="Calibri"/>
                        </a:rPr>
                        <a:t>ResU</a:t>
                      </a:r>
                      <a:r>
                        <a:rPr sz="1400" b="0" i="0" dirty="0">
                          <a:solidFill>
                            <a:srgbClr val="222B30"/>
                          </a:solidFill>
                          <a:latin typeface="Calibri"/>
                        </a:rPr>
                        <a:t>-Net</a:t>
                      </a:r>
                    </a:p>
                  </a:txBody>
                  <a:tcPr marL="64008" marR="64008" marT="18288" marB="18288" anchor="ctr">
                    <a:solidFill>
                      <a:srgbClr val="F5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384048" y="6345936"/>
            <a:ext cx="107289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7A878E"/>
                </a:solidFill>
                <a:latin typeface="Calibri"/>
              </a:rPr>
              <a:t>The two systems are nearly the same: PanDx reuses the baseline's stage 1 unchanged and only rebuilds stage 2. Its edge comes from the loss, fold stratification and post-processing rather than from the architecture (suppl. appendix §S4.4; architecture confirmed in the models' plans.json).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70275" y="6382512"/>
            <a:ext cx="30168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1" i="0">
                <a:solidFill>
                  <a:srgbClr val="3E9AAD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2335</Words>
  <Application>Microsoft Macintosh PowerPoint</Application>
  <PresentationFormat>Widescreen</PresentationFormat>
  <Paragraphs>237</Paragraphs>
  <Slides>8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Roberto Casale</cp:lastModifiedBy>
  <cp:revision>7</cp:revision>
  <dcterms:created xsi:type="dcterms:W3CDTF">2013-01-27T09:14:16Z</dcterms:created>
  <dcterms:modified xsi:type="dcterms:W3CDTF">2026-07-27T15:37:23Z</dcterms:modified>
  <cp:category/>
</cp:coreProperties>
</file>